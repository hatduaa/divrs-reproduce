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6" roundtripDataSignature="AMtx7mjFZM80/xaN/u+VzzBn5YUmdQ8+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2271713" y="1143001"/>
            <a:ext cx="2314575" cy="3087511"/>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1:notes"/>
          <p:cNvSpPr txBox="1"/>
          <p:nvPr>
            <p:ph idx="1" type="body"/>
          </p:nvPr>
        </p:nvSpPr>
        <p:spPr>
          <a:xfrm>
            <a:off x="685800" y="4399845"/>
            <a:ext cx="5486400" cy="360106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 name="Google Shape;26;p1:notes"/>
          <p:cNvSpPr txBox="1"/>
          <p:nvPr>
            <p:ph idx="12" type="sldNum"/>
          </p:nvPr>
        </p:nvSpPr>
        <p:spPr>
          <a:xfrm>
            <a:off x="3885010" y="8686800"/>
            <a:ext cx="2971800" cy="45706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vi"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txBox="1"/>
          <p:nvPr>
            <p:ph idx="1" type="body"/>
          </p:nvPr>
        </p:nvSpPr>
        <p:spPr>
          <a:xfrm>
            <a:off x="685800" y="4399845"/>
            <a:ext cx="5486400" cy="360106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 name="Google Shape;35;p2:notes"/>
          <p:cNvSpPr/>
          <p:nvPr>
            <p:ph idx="2" type="sldImg"/>
          </p:nvPr>
        </p:nvSpPr>
        <p:spPr>
          <a:xfrm>
            <a:off x="2271713" y="1143001"/>
            <a:ext cx="2314575" cy="3087511"/>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5:notes"/>
          <p:cNvSpPr txBox="1"/>
          <p:nvPr>
            <p:ph idx="1" type="body"/>
          </p:nvPr>
        </p:nvSpPr>
        <p:spPr>
          <a:xfrm>
            <a:off x="685800" y="4399845"/>
            <a:ext cx="5486400" cy="360106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43" name="Google Shape;43;p5:notes"/>
          <p:cNvSpPr/>
          <p:nvPr>
            <p:ph idx="2" type="sldImg"/>
          </p:nvPr>
        </p:nvSpPr>
        <p:spPr>
          <a:xfrm>
            <a:off x="2271713" y="1143001"/>
            <a:ext cx="2314575" cy="3087511"/>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c5a9fa9ed_0_60: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52" name="Google Shape;52;g3ec5a9fa9ed_0_60: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ec5a9fa9ed_0_68: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61" name="Google Shape;61;g3ec5a9fa9ed_0_68: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c5a9fa9ed_0_115: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69" name="Google Shape;69;g3ec5a9fa9ed_0_115: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c5a9fa9ed_0_48: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77" name="Google Shape;77;g3ec5a9fa9ed_0_48: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c5a9fa9ed_0_16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86" name="Google Shape;86;g3ec5a9fa9ed_0_16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c5a9fa9ed_0_176: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95" name="Google Shape;95;g3ec5a9fa9ed_0_176: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c5a9fa9ed_0_10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04" name="Google Shape;104;g3ec5a9fa9ed_0_10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c5a9fa9ed_0_195: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13" name="Google Shape;113;g3ec5a9fa9ed_0_195: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c5a9fa9ed_0_184: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21" name="Google Shape;121;g3ec5a9fa9ed_0_184: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c5a9fa9ed_0_7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29" name="Google Shape;129;g3ec5a9fa9ed_0_7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c5a9fa9ed_0_83: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37" name="Google Shape;137;g3ec5a9fa9ed_0_83: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c5a9fa9ed_0_8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45" name="Google Shape;145;g3ec5a9fa9ed_0_8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c5a9fa9ed_0_13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53" name="Google Shape;153;g3ec5a9fa9ed_0_13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c5a9fa9ed_0_95: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61" name="Google Shape;161;g3ec5a9fa9ed_0_95: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c5a9fa9ed_0_101: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69" name="Google Shape;169;g3ec5a9fa9ed_0_101: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c5a9fa9ed_0_127: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77" name="Google Shape;177;g3ec5a9fa9ed_0_127: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48f2a24fc_2_149:notes"/>
          <p:cNvSpPr txBox="1"/>
          <p:nvPr>
            <p:ph idx="1" type="body"/>
          </p:nvPr>
        </p:nvSpPr>
        <p:spPr>
          <a:xfrm>
            <a:off x="685800" y="4399845"/>
            <a:ext cx="5486400" cy="360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vi"/>
              <a:t>Trong phần giới thiệu tổng quan này, chúng ta sẽ đi từ bối cảnh chung đến động lực cụ thể của đề tài.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vi"/>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a:p>
        </p:txBody>
      </p:sp>
      <p:sp>
        <p:nvSpPr>
          <p:cNvPr id="185" name="Google Shape;185;g3948f2a24fc_2_149:notes"/>
          <p:cNvSpPr/>
          <p:nvPr>
            <p:ph idx="2" type="sldImg"/>
          </p:nvPr>
        </p:nvSpPr>
        <p:spPr>
          <a:xfrm>
            <a:off x="2271713" y="1143001"/>
            <a:ext cx="2314500" cy="3087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0"/>
          <p:cNvSpPr txBox="1"/>
          <p:nvPr>
            <p:ph type="title"/>
          </p:nvPr>
        </p:nvSpPr>
        <p:spPr>
          <a:xfrm>
            <a:off x="4092575" y="126492"/>
            <a:ext cx="1649729" cy="5130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2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0"/>
          <p:cNvSpPr txBox="1"/>
          <p:nvPr>
            <p:ph idx="1" type="body"/>
          </p:nvPr>
        </p:nvSpPr>
        <p:spPr>
          <a:xfrm>
            <a:off x="542274" y="904747"/>
            <a:ext cx="5541010" cy="1814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 name="Google Shape;15;p20"/>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0"/>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8" name="Shape 18"/>
        <p:cNvGrpSpPr/>
        <p:nvPr/>
      </p:nvGrpSpPr>
      <p:grpSpPr>
        <a:xfrm>
          <a:off x="0" y="0"/>
          <a:ext cx="0" cy="0"/>
          <a:chOff x="0" y="0"/>
          <a:chExt cx="0" cy="0"/>
        </a:xfrm>
      </p:grpSpPr>
      <p:sp>
        <p:nvSpPr>
          <p:cNvPr id="19" name="Google Shape;19;p21"/>
          <p:cNvSpPr/>
          <p:nvPr/>
        </p:nvSpPr>
        <p:spPr>
          <a:xfrm>
            <a:off x="530543" y="635698"/>
            <a:ext cx="3465195" cy="3465195"/>
          </a:xfrm>
          <a:custGeom>
            <a:rect b="b" l="l" r="r" t="t"/>
            <a:pathLst>
              <a:path extrusionOk="0" h="3465195" w="3465195">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2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p:nvPr/>
        </p:nvSpPr>
        <p:spPr>
          <a:xfrm>
            <a:off x="0" y="0"/>
            <a:ext cx="9144000" cy="5141975"/>
          </a:xfrm>
          <a:prstGeom prst="rect">
            <a:avLst/>
          </a:pr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 name="Google Shape;7;p19"/>
          <p:cNvSpPr txBox="1"/>
          <p:nvPr>
            <p:ph type="title"/>
          </p:nvPr>
        </p:nvSpPr>
        <p:spPr>
          <a:xfrm>
            <a:off x="4092575" y="126492"/>
            <a:ext cx="1649729" cy="51308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9"/>
          <p:cNvSpPr txBox="1"/>
          <p:nvPr>
            <p:ph idx="1" type="body"/>
          </p:nvPr>
        </p:nvSpPr>
        <p:spPr>
          <a:xfrm>
            <a:off x="542274" y="904747"/>
            <a:ext cx="5541010" cy="181483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19"/>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 name="Google Shape;11;p19"/>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717ba95d3def656484.gradio.liv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 name="Shape 27"/>
        <p:cNvGrpSpPr/>
        <p:nvPr/>
      </p:nvGrpSpPr>
      <p:grpSpPr>
        <a:xfrm>
          <a:off x="0" y="0"/>
          <a:ext cx="0" cy="0"/>
          <a:chOff x="0" y="0"/>
          <a:chExt cx="0" cy="0"/>
        </a:xfrm>
      </p:grpSpPr>
      <p:sp>
        <p:nvSpPr>
          <p:cNvPr id="28" name="Google Shape;28;p1"/>
          <p:cNvSpPr/>
          <p:nvPr/>
        </p:nvSpPr>
        <p:spPr>
          <a:xfrm>
            <a:off x="0" y="-19050"/>
            <a:ext cx="9144000" cy="51420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 name="Google Shape;29;p1"/>
          <p:cNvSpPr txBox="1"/>
          <p:nvPr>
            <p:ph type="title"/>
          </p:nvPr>
        </p:nvSpPr>
        <p:spPr>
          <a:xfrm>
            <a:off x="499496" y="245850"/>
            <a:ext cx="8145000" cy="1902900"/>
          </a:xfrm>
          <a:prstGeom prst="rect">
            <a:avLst/>
          </a:prstGeom>
          <a:noFill/>
          <a:ln>
            <a:noFill/>
          </a:ln>
        </p:spPr>
        <p:txBody>
          <a:bodyPr anchorCtr="0" anchor="t" bIns="0" lIns="0" spcFirstLastPara="1" rIns="0" wrap="square" tIns="55225">
            <a:spAutoFit/>
          </a:bodyPr>
          <a:lstStyle/>
          <a:p>
            <a:pPr indent="0" lvl="0" marL="0" rtl="0" algn="ctr">
              <a:lnSpc>
                <a:spcPct val="100000"/>
              </a:lnSpc>
              <a:spcBef>
                <a:spcPts val="0"/>
              </a:spcBef>
              <a:spcAft>
                <a:spcPts val="0"/>
              </a:spcAft>
              <a:buClr>
                <a:schemeClr val="dk1"/>
              </a:buClr>
              <a:buSzPts val="1100"/>
              <a:buFont typeface="Arial"/>
              <a:buNone/>
            </a:pPr>
            <a:r>
              <a:rPr b="1" lang="vi" sz="4000">
                <a:solidFill>
                  <a:schemeClr val="lt1"/>
                </a:solidFill>
              </a:rPr>
              <a:t>IDCIV-RS KHỬ THIÊN LỆCH NHÂN QUẢ TRONG HỆ THỐNG KHUYẾN NGHỊ</a:t>
            </a:r>
            <a:endParaRPr b="1" sz="4000">
              <a:solidFill>
                <a:schemeClr val="lt1"/>
              </a:solidFill>
            </a:endParaRPr>
          </a:p>
        </p:txBody>
      </p:sp>
      <p:pic>
        <p:nvPicPr>
          <p:cNvPr id="30" name="Google Shape;30;p1"/>
          <p:cNvPicPr preferRelativeResize="0"/>
          <p:nvPr/>
        </p:nvPicPr>
        <p:blipFill rotWithShape="1">
          <a:blip r:embed="rId4">
            <a:alphaModFix/>
          </a:blip>
          <a:srcRect b="0" l="0" r="0" t="0"/>
          <a:stretch/>
        </p:blipFill>
        <p:spPr>
          <a:xfrm>
            <a:off x="23734" y="3782921"/>
            <a:ext cx="1474120" cy="1474120"/>
          </a:xfrm>
          <a:prstGeom prst="rect">
            <a:avLst/>
          </a:prstGeom>
          <a:noFill/>
          <a:ln>
            <a:noFill/>
          </a:ln>
        </p:spPr>
      </p:pic>
      <p:sp>
        <p:nvSpPr>
          <p:cNvPr id="31" name="Google Shape;31;p1"/>
          <p:cNvSpPr txBox="1"/>
          <p:nvPr/>
        </p:nvSpPr>
        <p:spPr>
          <a:xfrm>
            <a:off x="5655525" y="1946550"/>
            <a:ext cx="3272700" cy="1356000"/>
          </a:xfrm>
          <a:prstGeom prst="rect">
            <a:avLst/>
          </a:prstGeom>
          <a:noFill/>
          <a:ln>
            <a:noFill/>
          </a:ln>
        </p:spPr>
        <p:txBody>
          <a:bodyPr anchorCtr="0" anchor="t" bIns="0" lIns="0" spcFirstLastPara="1" rIns="0" wrap="square" tIns="55225">
            <a:spAutoFit/>
          </a:bodyPr>
          <a:lstStyle/>
          <a:p>
            <a:pPr indent="0" lvl="0" marL="0" marR="0" rtl="0" algn="just">
              <a:lnSpc>
                <a:spcPct val="100000"/>
              </a:lnSpc>
              <a:spcBef>
                <a:spcPts val="434"/>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just">
              <a:lnSpc>
                <a:spcPct val="100000"/>
              </a:lnSpc>
              <a:spcBef>
                <a:spcPts val="434"/>
              </a:spcBef>
              <a:spcAft>
                <a:spcPts val="0"/>
              </a:spcAft>
              <a:buClr>
                <a:srgbClr val="000000"/>
              </a:buClr>
              <a:buSzPts val="1400"/>
              <a:buFont typeface="Arial"/>
              <a:buNone/>
            </a:pPr>
            <a:r>
              <a:rPr b="0" i="0" lang="vi" sz="1400" u="none" cap="none" strike="noStrike">
                <a:solidFill>
                  <a:schemeClr val="lt1"/>
                </a:solidFill>
                <a:latin typeface="Arial"/>
                <a:ea typeface="Arial"/>
                <a:cs typeface="Arial"/>
                <a:sym typeface="Arial"/>
              </a:rPr>
              <a:t>GVHD: TS. </a:t>
            </a:r>
            <a:r>
              <a:rPr lang="vi">
                <a:solidFill>
                  <a:schemeClr val="lt1"/>
                </a:solidFill>
              </a:rPr>
              <a:t>Bùi Tiến Lên</a:t>
            </a:r>
            <a:endParaRPr b="0" i="0" sz="1400" u="none" cap="none" strike="noStrike">
              <a:solidFill>
                <a:schemeClr val="lt1"/>
              </a:solidFill>
              <a:latin typeface="Arial"/>
              <a:ea typeface="Arial"/>
              <a:cs typeface="Arial"/>
              <a:sym typeface="Arial"/>
            </a:endParaRPr>
          </a:p>
          <a:p>
            <a:pPr indent="0" lvl="0" marL="0" marR="0" rtl="0" algn="just">
              <a:lnSpc>
                <a:spcPct val="100000"/>
              </a:lnSpc>
              <a:spcBef>
                <a:spcPts val="434"/>
              </a:spcBef>
              <a:spcAft>
                <a:spcPts val="0"/>
              </a:spcAft>
              <a:buClr>
                <a:schemeClr val="dk1"/>
              </a:buClr>
              <a:buSzPts val="1400"/>
              <a:buFont typeface="Arial"/>
              <a:buNone/>
            </a:pPr>
            <a:r>
              <a:rPr b="0" i="0" lang="vi" sz="1400" u="none" cap="none" strike="noStrike">
                <a:solidFill>
                  <a:schemeClr val="lt1"/>
                </a:solidFill>
                <a:latin typeface="Arial"/>
                <a:ea typeface="Arial"/>
                <a:cs typeface="Arial"/>
                <a:sym typeface="Arial"/>
              </a:rPr>
              <a:t>HVTH: Phạm Thị Chiều - 24C12003</a:t>
            </a:r>
            <a:endParaRPr b="0" i="0" sz="1400" u="none" cap="none" strike="noStrike">
              <a:solidFill>
                <a:schemeClr val="lt1"/>
              </a:solidFill>
              <a:latin typeface="Arial"/>
              <a:ea typeface="Arial"/>
              <a:cs typeface="Arial"/>
              <a:sym typeface="Arial"/>
            </a:endParaRPr>
          </a:p>
          <a:p>
            <a:pPr indent="0" lvl="0" marL="0" marR="0" rtl="0" algn="just">
              <a:lnSpc>
                <a:spcPct val="100000"/>
              </a:lnSpc>
              <a:spcBef>
                <a:spcPts val="434"/>
              </a:spcBef>
              <a:spcAft>
                <a:spcPts val="0"/>
              </a:spcAft>
              <a:buClr>
                <a:schemeClr val="dk1"/>
              </a:buClr>
              <a:buSzPts val="1400"/>
              <a:buFont typeface="Arial"/>
              <a:buNone/>
            </a:pPr>
            <a:r>
              <a:rPr b="0" i="0" lang="vi" sz="1400" u="none" cap="none" strike="noStrike">
                <a:solidFill>
                  <a:schemeClr val="lt1"/>
                </a:solidFill>
                <a:latin typeface="Arial"/>
                <a:ea typeface="Arial"/>
                <a:cs typeface="Arial"/>
                <a:sym typeface="Arial"/>
              </a:rPr>
              <a:t>HVTH: Lê Hoàng Nhân - 24C11044</a:t>
            </a:r>
            <a:endParaRPr b="0" i="0" sz="1400" u="none" cap="none" strike="noStrike">
              <a:solidFill>
                <a:schemeClr val="lt1"/>
              </a:solidFill>
              <a:latin typeface="Arial"/>
              <a:ea typeface="Arial"/>
              <a:cs typeface="Arial"/>
              <a:sym typeface="Arial"/>
            </a:endParaRPr>
          </a:p>
          <a:p>
            <a:pPr indent="0" lvl="0" marL="0" marR="0" rtl="0" algn="just">
              <a:lnSpc>
                <a:spcPct val="100000"/>
              </a:lnSpc>
              <a:spcBef>
                <a:spcPts val="434"/>
              </a:spcBef>
              <a:spcAft>
                <a:spcPts val="0"/>
              </a:spcAft>
              <a:buClr>
                <a:schemeClr val="dk1"/>
              </a:buClr>
              <a:buSzPts val="1400"/>
              <a:buFont typeface="Arial"/>
              <a:buNone/>
            </a:pPr>
            <a:r>
              <a:rPr lang="vi">
                <a:solidFill>
                  <a:schemeClr val="lt1"/>
                </a:solidFill>
              </a:rPr>
              <a:t>HVTH: Dương Tiến Vinh - 24C11034</a:t>
            </a:r>
            <a:endParaRPr>
              <a:solidFill>
                <a:schemeClr val="lt1"/>
              </a:solidFill>
            </a:endParaRPr>
          </a:p>
        </p:txBody>
      </p:sp>
      <p:sp>
        <p:nvSpPr>
          <p:cNvPr id="32" name="Google Shape;32;p1"/>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2"/>
          <p:cNvSpPr txBox="1"/>
          <p:nvPr>
            <p:ph type="title"/>
          </p:nvPr>
        </p:nvSpPr>
        <p:spPr>
          <a:xfrm>
            <a:off x="152400" y="115287"/>
            <a:ext cx="8839200" cy="4437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lang="vi" sz="2800"/>
              <a:t>Nội dung</a:t>
            </a:r>
            <a:endParaRPr/>
          </a:p>
        </p:txBody>
      </p:sp>
      <p:sp>
        <p:nvSpPr>
          <p:cNvPr id="38" name="Google Shape;38;p2"/>
          <p:cNvSpPr txBox="1"/>
          <p:nvPr/>
        </p:nvSpPr>
        <p:spPr>
          <a:xfrm>
            <a:off x="1698625" y="617075"/>
            <a:ext cx="7086600" cy="3109200"/>
          </a:xfrm>
          <a:prstGeom prst="rect">
            <a:avLst/>
          </a:prstGeom>
          <a:noFill/>
          <a:ln>
            <a:noFill/>
          </a:ln>
        </p:spPr>
        <p:txBody>
          <a:bodyPr anchorCtr="0" anchor="t" bIns="0" lIns="0" spcFirstLastPara="1" rIns="0" wrap="square" tIns="152400">
            <a:spAutoFit/>
          </a:bodyPr>
          <a:lstStyle/>
          <a:p>
            <a:pPr indent="-381000" lvl="0" marL="457200" marR="0" rtl="0" algn="l">
              <a:lnSpc>
                <a:spcPct val="100000"/>
              </a:lnSpc>
              <a:spcBef>
                <a:spcPts val="1130"/>
              </a:spcBef>
              <a:spcAft>
                <a:spcPts val="0"/>
              </a:spcAft>
              <a:buClr>
                <a:schemeClr val="dk1"/>
              </a:buClr>
              <a:buSzPts val="2400"/>
              <a:buFont typeface="Arial"/>
              <a:buAutoNum type="arabicPeriod"/>
            </a:pPr>
            <a:r>
              <a:rPr lang="vi" sz="2400">
                <a:solidFill>
                  <a:schemeClr val="dk1"/>
                </a:solidFill>
              </a:rPr>
              <a:t>Vấn đề</a:t>
            </a:r>
            <a:endParaRPr b="0" i="0" sz="2400" u="none" cap="none" strike="noStrike">
              <a:solidFill>
                <a:schemeClr val="dk1"/>
              </a:solidFill>
              <a:latin typeface="Arial"/>
              <a:ea typeface="Arial"/>
              <a:cs typeface="Arial"/>
              <a:sym typeface="Arial"/>
            </a:endParaRPr>
          </a:p>
          <a:p>
            <a:pPr indent="-381000" lvl="0" marL="457200" marR="0" rtl="0" algn="l">
              <a:lnSpc>
                <a:spcPct val="100000"/>
              </a:lnSpc>
              <a:spcBef>
                <a:spcPts val="0"/>
              </a:spcBef>
              <a:spcAft>
                <a:spcPts val="0"/>
              </a:spcAft>
              <a:buClr>
                <a:schemeClr val="dk1"/>
              </a:buClr>
              <a:buSzPts val="2400"/>
              <a:buFont typeface="Arial"/>
              <a:buAutoNum type="arabicPeriod"/>
            </a:pPr>
            <a:r>
              <a:rPr lang="vi" sz="2400">
                <a:solidFill>
                  <a:schemeClr val="dk1"/>
                </a:solidFill>
              </a:rPr>
              <a:t>Giải pháp</a:t>
            </a:r>
            <a:endParaRPr sz="2400">
              <a:solidFill>
                <a:schemeClr val="dk1"/>
              </a:solidFill>
            </a:endParaRPr>
          </a:p>
          <a:p>
            <a:pPr indent="-381000" lvl="0" marL="457200" rtl="0" algn="l">
              <a:spcBef>
                <a:spcPts val="0"/>
              </a:spcBef>
              <a:spcAft>
                <a:spcPts val="0"/>
              </a:spcAft>
              <a:buClr>
                <a:schemeClr val="dk1"/>
              </a:buClr>
              <a:buSzPts val="2400"/>
              <a:buAutoNum type="arabicPeriod"/>
            </a:pPr>
            <a:r>
              <a:rPr lang="vi" sz="2400">
                <a:solidFill>
                  <a:schemeClr val="dk1"/>
                </a:solidFill>
              </a:rPr>
              <a:t>Phương pháp </a:t>
            </a:r>
            <a:r>
              <a:rPr lang="vi" sz="2400">
                <a:solidFill>
                  <a:schemeClr val="dk1"/>
                </a:solidFill>
              </a:rPr>
              <a:t>IDCIV-RS</a:t>
            </a:r>
            <a:endParaRPr sz="2400">
              <a:solidFill>
                <a:schemeClr val="dk1"/>
              </a:solidFill>
            </a:endParaRPr>
          </a:p>
          <a:p>
            <a:pPr indent="-381000" lvl="0" marL="457200" marR="0" rtl="0" algn="l">
              <a:lnSpc>
                <a:spcPct val="100000"/>
              </a:lnSpc>
              <a:spcBef>
                <a:spcPts val="0"/>
              </a:spcBef>
              <a:spcAft>
                <a:spcPts val="0"/>
              </a:spcAft>
              <a:buClr>
                <a:schemeClr val="dk1"/>
              </a:buClr>
              <a:buSzPts val="2400"/>
              <a:buFont typeface="Arial"/>
              <a:buAutoNum type="arabicPeriod"/>
            </a:pPr>
            <a:r>
              <a:rPr lang="vi" sz="2400">
                <a:solidFill>
                  <a:schemeClr val="dk1"/>
                </a:solidFill>
              </a:rPr>
              <a:t>Dữ liệu</a:t>
            </a:r>
            <a:endParaRPr b="0" i="0" sz="2400" u="none" cap="none" strike="noStrike">
              <a:solidFill>
                <a:schemeClr val="dk1"/>
              </a:solidFill>
              <a:latin typeface="Arial"/>
              <a:ea typeface="Arial"/>
              <a:cs typeface="Arial"/>
              <a:sym typeface="Arial"/>
            </a:endParaRPr>
          </a:p>
          <a:p>
            <a:pPr indent="-381000" lvl="0" marL="457200" marR="0" rtl="0" algn="l">
              <a:lnSpc>
                <a:spcPct val="100000"/>
              </a:lnSpc>
              <a:spcBef>
                <a:spcPts val="0"/>
              </a:spcBef>
              <a:spcAft>
                <a:spcPts val="0"/>
              </a:spcAft>
              <a:buClr>
                <a:schemeClr val="dk1"/>
              </a:buClr>
              <a:buSzPts val="2400"/>
              <a:buFont typeface="Arial"/>
              <a:buAutoNum type="arabicPeriod"/>
            </a:pPr>
            <a:r>
              <a:rPr lang="vi" sz="2400">
                <a:solidFill>
                  <a:schemeClr val="dk1"/>
                </a:solidFill>
              </a:rPr>
              <a:t>Thực nghiệm</a:t>
            </a:r>
            <a:r>
              <a:rPr b="0" i="0" lang="vi" sz="2400" u="none" cap="none" strike="noStrike">
                <a:solidFill>
                  <a:schemeClr val="dk1"/>
                </a:solidFill>
                <a:latin typeface="Arial"/>
                <a:ea typeface="Arial"/>
                <a:cs typeface="Arial"/>
                <a:sym typeface="Arial"/>
              </a:rPr>
              <a:t> </a:t>
            </a:r>
            <a:endParaRPr sz="2400">
              <a:solidFill>
                <a:schemeClr val="dk1"/>
              </a:solidFill>
            </a:endParaRPr>
          </a:p>
          <a:p>
            <a:pPr indent="-381000" lvl="0" marL="457200" marR="0" rtl="0" algn="l">
              <a:lnSpc>
                <a:spcPct val="100000"/>
              </a:lnSpc>
              <a:spcBef>
                <a:spcPts val="0"/>
              </a:spcBef>
              <a:spcAft>
                <a:spcPts val="0"/>
              </a:spcAft>
              <a:buClr>
                <a:schemeClr val="dk1"/>
              </a:buClr>
              <a:buSzPts val="2400"/>
              <a:buFont typeface="Arial"/>
              <a:buAutoNum type="arabicPeriod"/>
            </a:pPr>
            <a:r>
              <a:rPr lang="vi" sz="2400">
                <a:solidFill>
                  <a:schemeClr val="dk1"/>
                </a:solidFill>
              </a:rPr>
              <a:t>Kết quả</a:t>
            </a:r>
            <a:endParaRPr sz="2400">
              <a:solidFill>
                <a:schemeClr val="dk1"/>
              </a:solidFill>
            </a:endParaRPr>
          </a:p>
          <a:p>
            <a:pPr indent="-381000" lvl="0" marL="457200" marR="0" rtl="0" algn="l">
              <a:lnSpc>
                <a:spcPct val="100000"/>
              </a:lnSpc>
              <a:spcBef>
                <a:spcPts val="0"/>
              </a:spcBef>
              <a:spcAft>
                <a:spcPts val="0"/>
              </a:spcAft>
              <a:buClr>
                <a:schemeClr val="dk1"/>
              </a:buClr>
              <a:buSzPts val="2400"/>
              <a:buAutoNum type="arabicPeriod"/>
            </a:pPr>
            <a:r>
              <a:rPr lang="vi" sz="2400">
                <a:solidFill>
                  <a:schemeClr val="dk1"/>
                </a:solidFill>
              </a:rPr>
              <a:t>Kết luận</a:t>
            </a:r>
            <a:endParaRPr sz="2400">
              <a:solidFill>
                <a:schemeClr val="dk1"/>
              </a:solidFill>
            </a:endParaRPr>
          </a:p>
          <a:p>
            <a:pPr indent="-381000" lvl="0" marL="457200" marR="0" rtl="0" algn="l">
              <a:lnSpc>
                <a:spcPct val="100000"/>
              </a:lnSpc>
              <a:spcBef>
                <a:spcPts val="0"/>
              </a:spcBef>
              <a:spcAft>
                <a:spcPts val="0"/>
              </a:spcAft>
              <a:buClr>
                <a:schemeClr val="dk1"/>
              </a:buClr>
              <a:buSzPts val="2400"/>
              <a:buFont typeface="Arial"/>
              <a:buAutoNum type="arabicPeriod"/>
            </a:pPr>
            <a:r>
              <a:rPr lang="vi" sz="2400">
                <a:solidFill>
                  <a:schemeClr val="dk1"/>
                </a:solidFill>
              </a:rPr>
              <a:t>Demo</a:t>
            </a:r>
            <a:endParaRPr b="0" i="0" sz="2400" u="none" cap="none" strike="noStrike">
              <a:solidFill>
                <a:schemeClr val="dk1"/>
              </a:solidFill>
              <a:latin typeface="Arial"/>
              <a:ea typeface="Arial"/>
              <a:cs typeface="Arial"/>
              <a:sym typeface="Arial"/>
            </a:endParaRPr>
          </a:p>
        </p:txBody>
      </p:sp>
      <p:sp>
        <p:nvSpPr>
          <p:cNvPr id="39" name="Google Shape;39;p2"/>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40" name="Google Shape;40;p2"/>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5"/>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46" name="Google Shape;46;p5"/>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419100" lvl="0" marL="457200" rtl="0" algn="ctr">
              <a:lnSpc>
                <a:spcPct val="100000"/>
              </a:lnSpc>
              <a:spcBef>
                <a:spcPts val="1130"/>
              </a:spcBef>
              <a:spcAft>
                <a:spcPts val="0"/>
              </a:spcAft>
              <a:buClr>
                <a:schemeClr val="lt1"/>
              </a:buClr>
              <a:buSzPts val="3000"/>
              <a:buFont typeface="Times New Roman"/>
              <a:buAutoNum type="arabicPeriod"/>
            </a:pPr>
            <a:r>
              <a:rPr lang="vi" sz="3000">
                <a:solidFill>
                  <a:schemeClr val="lt1"/>
                </a:solidFill>
                <a:latin typeface="Times New Roman"/>
                <a:ea typeface="Times New Roman"/>
                <a:cs typeface="Times New Roman"/>
                <a:sym typeface="Times New Roman"/>
              </a:rPr>
              <a:t>Vấn đề</a:t>
            </a:r>
            <a:endParaRPr sz="3000">
              <a:solidFill>
                <a:schemeClr val="lt1"/>
              </a:solidFill>
              <a:latin typeface="Times New Roman"/>
              <a:ea typeface="Times New Roman"/>
              <a:cs typeface="Times New Roman"/>
              <a:sym typeface="Times New Roman"/>
            </a:endParaRPr>
          </a:p>
        </p:txBody>
      </p:sp>
      <p:sp>
        <p:nvSpPr>
          <p:cNvPr id="47" name="Google Shape;47;p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48" name="Google Shape;48;p5"/>
          <p:cNvSpPr txBox="1"/>
          <p:nvPr/>
        </p:nvSpPr>
        <p:spPr>
          <a:xfrm>
            <a:off x="990225" y="716213"/>
            <a:ext cx="4430700" cy="37866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b="1" lang="vi" sz="1800">
                <a:solidFill>
                  <a:schemeClr val="dk1"/>
                </a:solidFill>
                <a:latin typeface="Times New Roman"/>
                <a:ea typeface="Times New Roman"/>
                <a:cs typeface="Times New Roman"/>
                <a:sym typeface="Times New Roman"/>
              </a:rPr>
              <a:t>Thiên lệch trong hệ thống khuyến nghị</a:t>
            </a:r>
            <a:endParaRPr b="1" sz="1800">
              <a:solidFill>
                <a:schemeClr val="dk1"/>
              </a:solidFill>
              <a:latin typeface="Times New Roman"/>
              <a:ea typeface="Times New Roman"/>
              <a:cs typeface="Times New Roman"/>
              <a:sym typeface="Times New Roman"/>
            </a:endParaRPr>
          </a:p>
          <a:p>
            <a:pPr indent="-342900" lvl="0" marL="457200" marR="0" rtl="0" algn="just">
              <a:lnSpc>
                <a:spcPct val="150000"/>
              </a:lnSpc>
              <a:spcBef>
                <a:spcPts val="0"/>
              </a:spcBef>
              <a:spcAft>
                <a:spcPts val="0"/>
              </a:spcAft>
              <a:buClr>
                <a:schemeClr val="dk1"/>
              </a:buClr>
              <a:buSzPts val="1800"/>
              <a:buFont typeface="Times New Roman"/>
              <a:buChar char="❖"/>
            </a:pPr>
            <a:r>
              <a:rPr b="1" lang="vi" sz="1800">
                <a:solidFill>
                  <a:schemeClr val="dk1"/>
                </a:solidFill>
                <a:latin typeface="Times New Roman"/>
                <a:ea typeface="Times New Roman"/>
                <a:cs typeface="Times New Roman"/>
                <a:sym typeface="Times New Roman"/>
              </a:rPr>
              <a:t>Thiên lệch do các biến nhiễu ẩn</a:t>
            </a:r>
            <a:endParaRPr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rPr lang="vi" sz="1800">
                <a:solidFill>
                  <a:schemeClr val="dk1"/>
                </a:solidFill>
                <a:latin typeface="Times New Roman"/>
                <a:ea typeface="Times New Roman"/>
                <a:cs typeface="Times New Roman"/>
                <a:sym typeface="Times New Roman"/>
              </a:rPr>
              <a:t>Hệ thống khuyến nghị trên thực tế luôn đối mặt với các biến nhiễu không quan sát được: hành vi click của người dùng không chỉ phụ thuộc vào sở thích thực sự mà còn bị ảnh hưởng bởi các biến nhiễu ẩn như hiệu ứng đám đông, độ phủ sóng quảng cáo hay tâm lý tạm thời</a:t>
            </a:r>
            <a:endParaRPr sz="1800">
              <a:solidFill>
                <a:schemeClr val="dk1"/>
              </a:solidFill>
              <a:latin typeface="Times New Roman"/>
              <a:ea typeface="Times New Roman"/>
              <a:cs typeface="Times New Roman"/>
              <a:sym typeface="Times New Roman"/>
            </a:endParaRPr>
          </a:p>
        </p:txBody>
      </p:sp>
      <p:pic>
        <p:nvPicPr>
          <p:cNvPr id="49" name="Google Shape;49;p5"/>
          <p:cNvPicPr preferRelativeResize="0"/>
          <p:nvPr/>
        </p:nvPicPr>
        <p:blipFill>
          <a:blip r:embed="rId3">
            <a:alphaModFix/>
          </a:blip>
          <a:stretch>
            <a:fillRect/>
          </a:stretch>
        </p:blipFill>
        <p:spPr>
          <a:xfrm>
            <a:off x="5353550" y="1319100"/>
            <a:ext cx="3676500" cy="24399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g3ec5a9fa9ed_0_60"/>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55" name="Google Shape;55;g3ec5a9fa9ed_0_60"/>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419100" lvl="0" marL="457200" rtl="0" algn="ctr">
              <a:lnSpc>
                <a:spcPct val="100000"/>
              </a:lnSpc>
              <a:spcBef>
                <a:spcPts val="1130"/>
              </a:spcBef>
              <a:spcAft>
                <a:spcPts val="0"/>
              </a:spcAft>
              <a:buClr>
                <a:schemeClr val="lt1"/>
              </a:buClr>
              <a:buSzPts val="3000"/>
              <a:buFont typeface="Times New Roman"/>
              <a:buAutoNum type="arabicPeriod"/>
            </a:pPr>
            <a:r>
              <a:rPr lang="vi" sz="3000">
                <a:solidFill>
                  <a:schemeClr val="lt1"/>
                </a:solidFill>
                <a:latin typeface="Times New Roman"/>
                <a:ea typeface="Times New Roman"/>
                <a:cs typeface="Times New Roman"/>
                <a:sym typeface="Times New Roman"/>
              </a:rPr>
              <a:t>Vấn đề</a:t>
            </a:r>
            <a:endParaRPr sz="3000">
              <a:solidFill>
                <a:schemeClr val="lt1"/>
              </a:solidFill>
              <a:latin typeface="Times New Roman"/>
              <a:ea typeface="Times New Roman"/>
              <a:cs typeface="Times New Roman"/>
              <a:sym typeface="Times New Roman"/>
            </a:endParaRPr>
          </a:p>
        </p:txBody>
      </p:sp>
      <p:sp>
        <p:nvSpPr>
          <p:cNvPr id="56" name="Google Shape;56;g3ec5a9fa9ed_0_60"/>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57" name="Google Shape;57;g3ec5a9fa9ed_0_60"/>
          <p:cNvSpPr txBox="1"/>
          <p:nvPr/>
        </p:nvSpPr>
        <p:spPr>
          <a:xfrm>
            <a:off x="690600" y="678450"/>
            <a:ext cx="7856400" cy="3786600"/>
          </a:xfrm>
          <a:prstGeom prst="rect">
            <a:avLst/>
          </a:prstGeom>
          <a:noFill/>
          <a:ln>
            <a:noFill/>
          </a:ln>
        </p:spPr>
        <p:txBody>
          <a:bodyPr anchorCtr="0" anchor="t" bIns="91425" lIns="91425" spcFirstLastPara="1" rIns="91425" wrap="square" tIns="91425">
            <a:spAutoFit/>
          </a:bodyPr>
          <a:lstStyle/>
          <a:p>
            <a:pPr indent="-342900" lvl="0" marL="457200" marR="0" rtl="0" algn="just">
              <a:lnSpc>
                <a:spcPct val="150000"/>
              </a:lnSpc>
              <a:spcBef>
                <a:spcPts val="0"/>
              </a:spcBef>
              <a:spcAft>
                <a:spcPts val="0"/>
              </a:spcAft>
              <a:buClr>
                <a:schemeClr val="dk1"/>
              </a:buClr>
              <a:buSzPts val="1800"/>
              <a:buFont typeface="Times New Roman"/>
              <a:buChar char="❖"/>
            </a:pPr>
            <a:r>
              <a:rPr b="1" lang="vi" sz="1800">
                <a:solidFill>
                  <a:schemeClr val="dk1"/>
                </a:solidFill>
                <a:latin typeface="Times New Roman"/>
                <a:ea typeface="Times New Roman"/>
                <a:cs typeface="Times New Roman"/>
                <a:sym typeface="Times New Roman"/>
              </a:rPr>
              <a:t>Rào cản của phương pháp cũ</a:t>
            </a:r>
            <a:endParaRPr b="1"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342900" lvl="0" marL="457200" marR="0" rtl="0" algn="just">
              <a:lnSpc>
                <a:spcPct val="150000"/>
              </a:lnSpc>
              <a:spcBef>
                <a:spcPts val="0"/>
              </a:spcBef>
              <a:spcAft>
                <a:spcPts val="0"/>
              </a:spcAft>
              <a:buClr>
                <a:schemeClr val="dk1"/>
              </a:buClr>
              <a:buSzPts val="1800"/>
              <a:buFont typeface="Times New Roman"/>
              <a:buChar char="➔"/>
            </a:pPr>
            <a:r>
              <a:rPr lang="vi" sz="1800">
                <a:solidFill>
                  <a:schemeClr val="dk1"/>
                </a:solidFill>
                <a:latin typeface="Times New Roman"/>
                <a:ea typeface="Times New Roman"/>
                <a:cs typeface="Times New Roman"/>
                <a:sym typeface="Times New Roman"/>
              </a:rPr>
              <a:t>Hậu quả là mô hình ngộ nhận nhu cầu tự nhiên của khách hàng, gây lãng phí tài nguyên hiển thị và sai lệch kết quả dự báo.</a:t>
            </a:r>
            <a:endParaRPr sz="1800">
              <a:solidFill>
                <a:schemeClr val="dk1"/>
              </a:solidFill>
              <a:latin typeface="Times New Roman"/>
              <a:ea typeface="Times New Roman"/>
              <a:cs typeface="Times New Roman"/>
              <a:sym typeface="Times New Roman"/>
            </a:endParaRPr>
          </a:p>
        </p:txBody>
      </p:sp>
      <p:pic>
        <p:nvPicPr>
          <p:cNvPr id="58" name="Google Shape;58;g3ec5a9fa9ed_0_60"/>
          <p:cNvPicPr preferRelativeResize="0"/>
          <p:nvPr/>
        </p:nvPicPr>
        <p:blipFill>
          <a:blip r:embed="rId3">
            <a:alphaModFix/>
          </a:blip>
          <a:stretch>
            <a:fillRect/>
          </a:stretch>
        </p:blipFill>
        <p:spPr>
          <a:xfrm>
            <a:off x="1797800" y="1115225"/>
            <a:ext cx="5852351" cy="25092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g3ec5a9fa9ed_0_68"/>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64" name="Google Shape;64;g3ec5a9fa9ed_0_68"/>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2. Giải pháp</a:t>
            </a:r>
            <a:endParaRPr sz="3000">
              <a:solidFill>
                <a:schemeClr val="lt1"/>
              </a:solidFill>
              <a:latin typeface="Times New Roman"/>
              <a:ea typeface="Times New Roman"/>
              <a:cs typeface="Times New Roman"/>
              <a:sym typeface="Times New Roman"/>
            </a:endParaRPr>
          </a:p>
        </p:txBody>
      </p:sp>
      <p:sp>
        <p:nvSpPr>
          <p:cNvPr id="65" name="Google Shape;65;g3ec5a9fa9ed_0_6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66" name="Google Shape;66;g3ec5a9fa9ed_0_68"/>
          <p:cNvSpPr txBox="1"/>
          <p:nvPr/>
        </p:nvSpPr>
        <p:spPr>
          <a:xfrm>
            <a:off x="1416050" y="865275"/>
            <a:ext cx="7470000" cy="26781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342900" lvl="0" marL="457200" rtl="0" algn="just">
              <a:lnSpc>
                <a:spcPct val="160000"/>
              </a:lnSpc>
              <a:spcBef>
                <a:spcPts val="1200"/>
              </a:spcBef>
              <a:spcAft>
                <a:spcPts val="0"/>
              </a:spcAft>
              <a:buClr>
                <a:schemeClr val="dk1"/>
              </a:buClr>
              <a:buSzPts val="1800"/>
              <a:buFont typeface="Times New Roman"/>
              <a:buChar char="❖"/>
            </a:pPr>
            <a:r>
              <a:rPr b="1" lang="vi" sz="1800">
                <a:solidFill>
                  <a:schemeClr val="dk1"/>
                </a:solidFill>
                <a:highlight>
                  <a:srgbClr val="FFFFFF"/>
                </a:highlight>
                <a:latin typeface="Times New Roman"/>
                <a:ea typeface="Times New Roman"/>
                <a:cs typeface="Times New Roman"/>
                <a:sym typeface="Times New Roman"/>
              </a:rPr>
              <a:t>Inverse Propensity Scoring (IPS):</a:t>
            </a:r>
            <a:r>
              <a:rPr lang="vi" sz="1800">
                <a:solidFill>
                  <a:schemeClr val="dk1"/>
                </a:solidFill>
                <a:highlight>
                  <a:srgbClr val="FFFFFF"/>
                </a:highlight>
                <a:latin typeface="Times New Roman"/>
                <a:ea typeface="Times New Roman"/>
                <a:cs typeface="Times New Roman"/>
                <a:sym typeface="Times New Roman"/>
              </a:rPr>
              <a:t> Trọng số hóa dữ liệu để bù đắp cho sự thiên lệch vị trí hiển thị.</a:t>
            </a:r>
            <a:endParaRPr sz="1800">
              <a:solidFill>
                <a:schemeClr val="dk1"/>
              </a:solidFill>
              <a:highlight>
                <a:srgbClr val="FFFFFF"/>
              </a:highlight>
              <a:latin typeface="Times New Roman"/>
              <a:ea typeface="Times New Roman"/>
              <a:cs typeface="Times New Roman"/>
              <a:sym typeface="Times New Roman"/>
            </a:endParaRPr>
          </a:p>
          <a:p>
            <a:pPr indent="-342900" lvl="0" marL="457200" rtl="0" algn="just">
              <a:lnSpc>
                <a:spcPct val="160000"/>
              </a:lnSpc>
              <a:spcBef>
                <a:spcPts val="0"/>
              </a:spcBef>
              <a:spcAft>
                <a:spcPts val="0"/>
              </a:spcAft>
              <a:buClr>
                <a:schemeClr val="dk1"/>
              </a:buClr>
              <a:buSzPts val="1800"/>
              <a:buChar char="❖"/>
            </a:pPr>
            <a:r>
              <a:rPr b="1" lang="vi" sz="1800">
                <a:solidFill>
                  <a:schemeClr val="dk1"/>
                </a:solidFill>
                <a:highlight>
                  <a:srgbClr val="FFFFFF"/>
                </a:highlight>
                <a:latin typeface="Times New Roman"/>
                <a:ea typeface="Times New Roman"/>
                <a:cs typeface="Times New Roman"/>
                <a:sym typeface="Times New Roman"/>
              </a:rPr>
              <a:t>Causal Inference:</a:t>
            </a:r>
            <a:r>
              <a:rPr lang="vi" sz="1800">
                <a:solidFill>
                  <a:schemeClr val="dk1"/>
                </a:solidFill>
                <a:highlight>
                  <a:srgbClr val="FFFFFF"/>
                </a:highlight>
                <a:latin typeface="Times New Roman"/>
                <a:ea typeface="Times New Roman"/>
                <a:cs typeface="Times New Roman"/>
                <a:sym typeface="Times New Roman"/>
              </a:rPr>
              <a:t> Sử dụng suy luận nhân quả để tách biệt sở thích thực sự khỏi biến nhiễu.</a:t>
            </a:r>
            <a:endParaRPr sz="1800">
              <a:solidFill>
                <a:schemeClr val="dk1"/>
              </a:solidFill>
              <a:highlight>
                <a:srgbClr val="FFFFFF"/>
              </a:highlight>
              <a:latin typeface="Times New Roman"/>
              <a:ea typeface="Times New Roman"/>
              <a:cs typeface="Times New Roman"/>
              <a:sym typeface="Times New Roman"/>
            </a:endParaRPr>
          </a:p>
          <a:p>
            <a:pPr indent="-342900" lvl="0" marL="457200" rtl="0" algn="just">
              <a:lnSpc>
                <a:spcPct val="160000"/>
              </a:lnSpc>
              <a:spcBef>
                <a:spcPts val="0"/>
              </a:spcBef>
              <a:spcAft>
                <a:spcPts val="0"/>
              </a:spcAft>
              <a:buClr>
                <a:schemeClr val="dk1"/>
              </a:buClr>
              <a:buSzPts val="1800"/>
              <a:buChar char="❖"/>
            </a:pPr>
            <a:r>
              <a:rPr b="1" lang="vi" sz="1800">
                <a:solidFill>
                  <a:schemeClr val="dk1"/>
                </a:solidFill>
                <a:highlight>
                  <a:srgbClr val="FFFFFF"/>
                </a:highlight>
                <a:latin typeface="Times New Roman"/>
                <a:ea typeface="Times New Roman"/>
                <a:cs typeface="Times New Roman"/>
                <a:sym typeface="Times New Roman"/>
              </a:rPr>
              <a:t>Adversarial Training:</a:t>
            </a:r>
            <a:r>
              <a:rPr lang="vi" sz="1800">
                <a:solidFill>
                  <a:schemeClr val="dk1"/>
                </a:solidFill>
                <a:highlight>
                  <a:srgbClr val="FFFFFF"/>
                </a:highlight>
                <a:latin typeface="Times New Roman"/>
                <a:ea typeface="Times New Roman"/>
                <a:cs typeface="Times New Roman"/>
                <a:sym typeface="Times New Roman"/>
              </a:rPr>
              <a:t> Huấn luyện đối kháng giúp mô hình học cách không phụ thuộc vào độ phổ biến ảo.</a:t>
            </a:r>
            <a:endParaRPr sz="18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g3ec5a9fa9ed_0_115"/>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72" name="Google Shape;72;g3ec5a9fa9ed_0_115"/>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2. Giải pháp</a:t>
            </a:r>
            <a:endParaRPr sz="3000">
              <a:solidFill>
                <a:schemeClr val="lt1"/>
              </a:solidFill>
              <a:latin typeface="Times New Roman"/>
              <a:ea typeface="Times New Roman"/>
              <a:cs typeface="Times New Roman"/>
              <a:sym typeface="Times New Roman"/>
            </a:endParaRPr>
          </a:p>
        </p:txBody>
      </p:sp>
      <p:sp>
        <p:nvSpPr>
          <p:cNvPr id="73" name="Google Shape;73;g3ec5a9fa9ed_0_11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pic>
        <p:nvPicPr>
          <p:cNvPr id="74" name="Google Shape;74;g3ec5a9fa9ed_0_115"/>
          <p:cNvPicPr preferRelativeResize="0"/>
          <p:nvPr/>
        </p:nvPicPr>
        <p:blipFill>
          <a:blip r:embed="rId3">
            <a:alphaModFix/>
          </a:blip>
          <a:stretch>
            <a:fillRect/>
          </a:stretch>
        </p:blipFill>
        <p:spPr>
          <a:xfrm>
            <a:off x="1416050" y="636525"/>
            <a:ext cx="6901241" cy="37344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ec5a9fa9ed_0_48"/>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80" name="Google Shape;80;g3ec5a9fa9ed_0_48"/>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3.</a:t>
            </a:r>
            <a:r>
              <a:rPr lang="vi" sz="3000">
                <a:solidFill>
                  <a:schemeClr val="lt1"/>
                </a:solidFill>
                <a:latin typeface="Times New Roman"/>
                <a:ea typeface="Times New Roman"/>
                <a:cs typeface="Times New Roman"/>
                <a:sym typeface="Times New Roman"/>
              </a:rPr>
              <a:t> Ph</a:t>
            </a:r>
            <a:r>
              <a:rPr lang="vi" sz="3000">
                <a:solidFill>
                  <a:schemeClr val="lt1"/>
                </a:solidFill>
                <a:latin typeface="Times New Roman"/>
                <a:ea typeface="Times New Roman"/>
                <a:cs typeface="Times New Roman"/>
                <a:sym typeface="Times New Roman"/>
              </a:rPr>
              <a:t>ương pháp </a:t>
            </a:r>
            <a:r>
              <a:rPr lang="vi" sz="3000">
                <a:solidFill>
                  <a:schemeClr val="lt1"/>
                </a:solidFill>
                <a:latin typeface="Times New Roman"/>
                <a:ea typeface="Times New Roman"/>
                <a:cs typeface="Times New Roman"/>
                <a:sym typeface="Times New Roman"/>
              </a:rPr>
              <a:t>IDCIV - RS </a:t>
            </a:r>
            <a:endParaRPr sz="3000">
              <a:solidFill>
                <a:schemeClr val="lt1"/>
              </a:solidFill>
              <a:latin typeface="Times New Roman"/>
              <a:ea typeface="Times New Roman"/>
              <a:cs typeface="Times New Roman"/>
              <a:sym typeface="Times New Roman"/>
            </a:endParaRPr>
          </a:p>
        </p:txBody>
      </p:sp>
      <p:sp>
        <p:nvSpPr>
          <p:cNvPr id="81" name="Google Shape;81;g3ec5a9fa9ed_0_4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82" name="Google Shape;82;g3ec5a9fa9ed_0_48"/>
          <p:cNvSpPr txBox="1"/>
          <p:nvPr>
            <p:ph type="title"/>
          </p:nvPr>
        </p:nvSpPr>
        <p:spPr>
          <a:xfrm>
            <a:off x="416725" y="958250"/>
            <a:ext cx="4155300" cy="320700"/>
          </a:xfrm>
          <a:prstGeom prst="rect">
            <a:avLst/>
          </a:prstGeom>
          <a:solidFill>
            <a:srgbClr val="0000FF"/>
          </a:solidFill>
          <a:ln cap="flat" cmpd="sng" w="9525">
            <a:solidFill>
              <a:schemeClr val="lt1"/>
            </a:solidFill>
            <a:prstDash val="solid"/>
            <a:round/>
            <a:headEnd len="sm" w="sm" type="none"/>
            <a:tailEnd len="sm" w="sm" type="none"/>
          </a:ln>
        </p:spPr>
        <p:txBody>
          <a:bodyPr anchorCtr="0" anchor="t" bIns="0" lIns="0" spcFirstLastPara="1" rIns="0" wrap="square" tIns="12700">
            <a:spAutoFit/>
          </a:bodyPr>
          <a:lstStyle/>
          <a:p>
            <a:pPr indent="0" lvl="0" marL="0" rtl="0" algn="l">
              <a:lnSpc>
                <a:spcPct val="100000"/>
              </a:lnSpc>
              <a:spcBef>
                <a:spcPts val="1130"/>
              </a:spcBef>
              <a:spcAft>
                <a:spcPts val="0"/>
              </a:spcAft>
              <a:buSzPts val="1400"/>
              <a:buNone/>
            </a:pPr>
            <a:r>
              <a:rPr lang="vi" sz="2000">
                <a:solidFill>
                  <a:schemeClr val="lt1"/>
                </a:solidFill>
                <a:latin typeface="Times New Roman"/>
                <a:ea typeface="Times New Roman"/>
                <a:cs typeface="Times New Roman"/>
                <a:sym typeface="Times New Roman"/>
              </a:rPr>
              <a:t>3.1 Quy trình ba bước của IDCIV - RS</a:t>
            </a:r>
            <a:endParaRPr sz="2000">
              <a:solidFill>
                <a:schemeClr val="lt1"/>
              </a:solidFill>
              <a:latin typeface="Times New Roman"/>
              <a:ea typeface="Times New Roman"/>
              <a:cs typeface="Times New Roman"/>
              <a:sym typeface="Times New Roman"/>
            </a:endParaRPr>
          </a:p>
        </p:txBody>
      </p:sp>
      <p:pic>
        <p:nvPicPr>
          <p:cNvPr id="83" name="Google Shape;83;g3ec5a9fa9ed_0_48"/>
          <p:cNvPicPr preferRelativeResize="0"/>
          <p:nvPr/>
        </p:nvPicPr>
        <p:blipFill>
          <a:blip r:embed="rId3">
            <a:alphaModFix/>
          </a:blip>
          <a:stretch>
            <a:fillRect/>
          </a:stretch>
        </p:blipFill>
        <p:spPr>
          <a:xfrm>
            <a:off x="152400" y="1431350"/>
            <a:ext cx="8839200" cy="221517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ec5a9fa9ed_0_167"/>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3. Phương pháp IDCIV - RS </a:t>
            </a:r>
            <a:endParaRPr sz="3000">
              <a:solidFill>
                <a:schemeClr val="lt1"/>
              </a:solidFill>
              <a:latin typeface="Times New Roman"/>
              <a:ea typeface="Times New Roman"/>
              <a:cs typeface="Times New Roman"/>
              <a:sym typeface="Times New Roman"/>
            </a:endParaRPr>
          </a:p>
        </p:txBody>
      </p:sp>
      <p:sp>
        <p:nvSpPr>
          <p:cNvPr id="89" name="Google Shape;89;g3ec5a9fa9ed_0_16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90" name="Google Shape;90;g3ec5a9fa9ed_0_167"/>
          <p:cNvSpPr txBox="1"/>
          <p:nvPr>
            <p:ph type="title"/>
          </p:nvPr>
        </p:nvSpPr>
        <p:spPr>
          <a:xfrm>
            <a:off x="416725" y="958250"/>
            <a:ext cx="4155300" cy="320700"/>
          </a:xfrm>
          <a:prstGeom prst="rect">
            <a:avLst/>
          </a:prstGeom>
          <a:solidFill>
            <a:srgbClr val="0000FF"/>
          </a:solidFill>
          <a:ln cap="flat" cmpd="sng" w="9525">
            <a:solidFill>
              <a:schemeClr val="lt1"/>
            </a:solidFill>
            <a:prstDash val="solid"/>
            <a:round/>
            <a:headEnd len="sm" w="sm" type="none"/>
            <a:tailEnd len="sm" w="sm" type="none"/>
          </a:ln>
        </p:spPr>
        <p:txBody>
          <a:bodyPr anchorCtr="0" anchor="t" bIns="0" lIns="0" spcFirstLastPara="1" rIns="0" wrap="square" tIns="12700">
            <a:spAutoFit/>
          </a:bodyPr>
          <a:lstStyle/>
          <a:p>
            <a:pPr indent="0" lvl="0" marL="0" rtl="0" algn="l">
              <a:lnSpc>
                <a:spcPct val="100000"/>
              </a:lnSpc>
              <a:spcBef>
                <a:spcPts val="1130"/>
              </a:spcBef>
              <a:spcAft>
                <a:spcPts val="0"/>
              </a:spcAft>
              <a:buSzPts val="1400"/>
              <a:buNone/>
            </a:pPr>
            <a:r>
              <a:rPr lang="vi" sz="2000">
                <a:solidFill>
                  <a:schemeClr val="lt1"/>
                </a:solidFill>
                <a:latin typeface="Times New Roman"/>
                <a:ea typeface="Times New Roman"/>
                <a:cs typeface="Times New Roman"/>
                <a:sym typeface="Times New Roman"/>
              </a:rPr>
              <a:t>3.2 Sơ đồ nhân quả</a:t>
            </a:r>
            <a:endParaRPr sz="2000">
              <a:solidFill>
                <a:schemeClr val="lt1"/>
              </a:solidFill>
              <a:latin typeface="Times New Roman"/>
              <a:ea typeface="Times New Roman"/>
              <a:cs typeface="Times New Roman"/>
              <a:sym typeface="Times New Roman"/>
            </a:endParaRPr>
          </a:p>
        </p:txBody>
      </p:sp>
      <p:sp>
        <p:nvSpPr>
          <p:cNvPr id="91" name="Google Shape;91;g3ec5a9fa9ed_0_167"/>
          <p:cNvSpPr txBox="1"/>
          <p:nvPr/>
        </p:nvSpPr>
        <p:spPr>
          <a:xfrm>
            <a:off x="416725" y="1278950"/>
            <a:ext cx="4155300" cy="31668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vi" sz="1300">
                <a:solidFill>
                  <a:schemeClr val="dk1"/>
                </a:solidFill>
              </a:rPr>
              <a:t>Ý nghĩa của các biến trong sơ đồ</a:t>
            </a:r>
            <a:endParaRPr b="1" sz="1300">
              <a:solidFill>
                <a:schemeClr val="dk1"/>
              </a:solidFill>
            </a:endParaRPr>
          </a:p>
          <a:p>
            <a:pPr indent="-298450" lvl="0" marL="457200" rtl="0" algn="l">
              <a:lnSpc>
                <a:spcPct val="115000"/>
              </a:lnSpc>
              <a:spcBef>
                <a:spcPts val="400"/>
              </a:spcBef>
              <a:spcAft>
                <a:spcPts val="0"/>
              </a:spcAft>
              <a:buClr>
                <a:schemeClr val="dk1"/>
              </a:buClr>
              <a:buSzPts val="1100"/>
              <a:buChar char="●"/>
            </a:pPr>
            <a:r>
              <a:rPr b="1" lang="vi" sz="1100">
                <a:solidFill>
                  <a:schemeClr val="dk1"/>
                </a:solidFill>
              </a:rPr>
              <a:t>W (Treatment - Biến can thiệp):</a:t>
            </a:r>
            <a:r>
              <a:rPr lang="vi" sz="1100">
                <a:solidFill>
                  <a:schemeClr val="dk1"/>
                </a:solidFill>
              </a:rPr>
              <a:t> Trong hệ thống khuyến nghị, đây là việc hiển thị một sản phẩm hoặc nội dung nào đó cho người dùng (Ad Exposure / Item Recommendation).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vi" sz="1100">
                <a:solidFill>
                  <a:schemeClr val="dk1"/>
                </a:solidFill>
              </a:rPr>
              <a:t>Y (Outcome - Biến kết quả):</a:t>
            </a:r>
            <a:r>
              <a:rPr lang="vi" sz="1100">
                <a:solidFill>
                  <a:schemeClr val="dk1"/>
                </a:solidFill>
              </a:rPr>
              <a:t> Phản hồi hoặc hành vi của người dùng sau khi thấy nội dung, ví dụ như hành vi nhấp chuột (Click), lượt xem (View) hoặc lượt mua.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vi" sz="1100">
                <a:solidFill>
                  <a:schemeClr val="dk1"/>
                </a:solidFill>
              </a:rPr>
              <a:t>Uc (Latent Confounders - Biến nhiễu ẩn):</a:t>
            </a:r>
            <a:r>
              <a:rPr lang="vi" sz="1100">
                <a:solidFill>
                  <a:schemeClr val="dk1"/>
                </a:solidFill>
              </a:rPr>
              <a:t> Các yếu tố không quan sát được và không thể đo lường trực tiếp (như tâm trạng nhất thời của người dùng, các xu hướng ảo, hiệu ứng đám đông). Nó tác động đồng thời lên cả việc hiển thị sản phẩm W lẫn hành vi nhấp chuột Y (thể hiện qua hai đường mũi tên nét đứt hướng từ Uc sang W và Y).</a:t>
            </a:r>
            <a:endParaRPr sz="1500">
              <a:solidFill>
                <a:srgbClr val="334155"/>
              </a:solidFill>
              <a:highlight>
                <a:srgbClr val="FFF2CC"/>
              </a:highlight>
              <a:latin typeface="Times New Roman"/>
              <a:ea typeface="Times New Roman"/>
              <a:cs typeface="Times New Roman"/>
              <a:sym typeface="Times New Roman"/>
            </a:endParaRPr>
          </a:p>
        </p:txBody>
      </p:sp>
      <p:pic>
        <p:nvPicPr>
          <p:cNvPr id="92" name="Google Shape;92;g3ec5a9fa9ed_0_167"/>
          <p:cNvPicPr preferRelativeResize="0"/>
          <p:nvPr/>
        </p:nvPicPr>
        <p:blipFill>
          <a:blip r:embed="rId3">
            <a:alphaModFix/>
          </a:blip>
          <a:stretch>
            <a:fillRect/>
          </a:stretch>
        </p:blipFill>
        <p:spPr>
          <a:xfrm>
            <a:off x="4572025" y="1278950"/>
            <a:ext cx="4426800" cy="3301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ec5a9fa9ed_0_176"/>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3. Phương pháp IDCIV - RS </a:t>
            </a:r>
            <a:endParaRPr sz="3000">
              <a:solidFill>
                <a:schemeClr val="lt1"/>
              </a:solidFill>
              <a:latin typeface="Times New Roman"/>
              <a:ea typeface="Times New Roman"/>
              <a:cs typeface="Times New Roman"/>
              <a:sym typeface="Times New Roman"/>
            </a:endParaRPr>
          </a:p>
        </p:txBody>
      </p:sp>
      <p:sp>
        <p:nvSpPr>
          <p:cNvPr id="98" name="Google Shape;98;g3ec5a9fa9ed_0_176"/>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99" name="Google Shape;99;g3ec5a9fa9ed_0_176"/>
          <p:cNvSpPr txBox="1"/>
          <p:nvPr>
            <p:ph type="title"/>
          </p:nvPr>
        </p:nvSpPr>
        <p:spPr>
          <a:xfrm>
            <a:off x="416725" y="958250"/>
            <a:ext cx="4155300" cy="320700"/>
          </a:xfrm>
          <a:prstGeom prst="rect">
            <a:avLst/>
          </a:prstGeom>
          <a:solidFill>
            <a:srgbClr val="0000FF"/>
          </a:solidFill>
          <a:ln cap="flat" cmpd="sng" w="9525">
            <a:solidFill>
              <a:schemeClr val="lt1"/>
            </a:solidFill>
            <a:prstDash val="solid"/>
            <a:round/>
            <a:headEnd len="sm" w="sm" type="none"/>
            <a:tailEnd len="sm" w="sm" type="none"/>
          </a:ln>
        </p:spPr>
        <p:txBody>
          <a:bodyPr anchorCtr="0" anchor="t" bIns="0" lIns="0" spcFirstLastPara="1" rIns="0" wrap="square" tIns="12700">
            <a:spAutoFit/>
          </a:bodyPr>
          <a:lstStyle/>
          <a:p>
            <a:pPr indent="0" lvl="0" marL="0" rtl="0" algn="l">
              <a:lnSpc>
                <a:spcPct val="100000"/>
              </a:lnSpc>
              <a:spcBef>
                <a:spcPts val="1130"/>
              </a:spcBef>
              <a:spcAft>
                <a:spcPts val="0"/>
              </a:spcAft>
              <a:buSzPts val="1400"/>
              <a:buNone/>
            </a:pPr>
            <a:r>
              <a:rPr lang="vi" sz="2000">
                <a:solidFill>
                  <a:schemeClr val="lt1"/>
                </a:solidFill>
                <a:latin typeface="Times New Roman"/>
                <a:ea typeface="Times New Roman"/>
                <a:cs typeface="Times New Roman"/>
                <a:sym typeface="Times New Roman"/>
              </a:rPr>
              <a:t>3.2 Sơ đồ nhân quả</a:t>
            </a:r>
            <a:endParaRPr sz="2000">
              <a:solidFill>
                <a:schemeClr val="lt1"/>
              </a:solidFill>
              <a:latin typeface="Times New Roman"/>
              <a:ea typeface="Times New Roman"/>
              <a:cs typeface="Times New Roman"/>
              <a:sym typeface="Times New Roman"/>
            </a:endParaRPr>
          </a:p>
        </p:txBody>
      </p:sp>
      <p:sp>
        <p:nvSpPr>
          <p:cNvPr id="100" name="Google Shape;100;g3ec5a9fa9ed_0_176"/>
          <p:cNvSpPr txBox="1"/>
          <p:nvPr/>
        </p:nvSpPr>
        <p:spPr>
          <a:xfrm>
            <a:off x="416725" y="1278950"/>
            <a:ext cx="4155300" cy="26442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vi" sz="1300">
                <a:solidFill>
                  <a:schemeClr val="dk1"/>
                </a:solidFill>
              </a:rPr>
              <a:t>Ý nghĩa của các biến trong sơ đồ</a:t>
            </a:r>
            <a:endParaRPr sz="1100">
              <a:solidFill>
                <a:schemeClr val="dk1"/>
              </a:solidFill>
            </a:endParaRPr>
          </a:p>
          <a:p>
            <a:pPr indent="-298450" lvl="0" marL="457200" rtl="0" algn="l">
              <a:lnSpc>
                <a:spcPct val="115000"/>
              </a:lnSpc>
              <a:spcBef>
                <a:spcPts val="400"/>
              </a:spcBef>
              <a:spcAft>
                <a:spcPts val="0"/>
              </a:spcAft>
              <a:buClr>
                <a:schemeClr val="dk1"/>
              </a:buClr>
              <a:buSzPts val="1100"/>
              <a:buChar char="●"/>
            </a:pPr>
            <a:r>
              <a:rPr b="1" lang="vi" sz="1100">
                <a:solidFill>
                  <a:schemeClr val="dk1"/>
                </a:solidFill>
              </a:rPr>
              <a:t>X</a:t>
            </a:r>
            <a:r>
              <a:rPr b="1" lang="vi" sz="1100">
                <a:solidFill>
                  <a:schemeClr val="dk1"/>
                </a:solidFill>
              </a:rPr>
              <a:t> (Measured Pretreatment Variables):</a:t>
            </a:r>
            <a:r>
              <a:rPr lang="vi" sz="1100">
                <a:solidFill>
                  <a:schemeClr val="dk1"/>
                </a:solidFill>
              </a:rPr>
              <a:t> Khung nét đứt bao quanh tập hợp các biến đặc trưng quan sát được trước khi có hành vi can thiệp xảy ra (ví dụ: lịch sử tương tác cũ, hồ sơ người dùng).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vi" sz="1100">
                <a:solidFill>
                  <a:schemeClr val="dk1"/>
                </a:solidFill>
              </a:rPr>
              <a:t>Zt, Zc</a:t>
            </a:r>
            <a:r>
              <a:rPr b="1" lang="vi" sz="1100">
                <a:solidFill>
                  <a:schemeClr val="dk1"/>
                </a:solidFill>
              </a:rPr>
              <a:t> (Biểu diễn được học từ X):</a:t>
            </a:r>
            <a:r>
              <a:rPr lang="vi" sz="1100">
                <a:solidFill>
                  <a:schemeClr val="dk1"/>
                </a:solidFill>
              </a:rPr>
              <a:t> Hai thành phần cốt lõi mà mô hình IDCIV-RS tự động trích xuất nhằm giải quyết bài toán nhân quả.</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vi" sz="1100">
                <a:solidFill>
                  <a:schemeClr val="dk1"/>
                </a:solidFill>
              </a:rPr>
              <a:t>Zt:  Biến công cụ có điều kiện (Conditional Instrumental Variable - CIV).</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vi" sz="1100">
                <a:solidFill>
                  <a:schemeClr val="dk1"/>
                </a:solidFill>
              </a:rPr>
              <a:t>Zc:: Tập điều kiện kiểm soát (Conditioning Set).</a:t>
            </a:r>
            <a:endParaRPr sz="1100">
              <a:solidFill>
                <a:schemeClr val="dk1"/>
              </a:solidFill>
            </a:endParaRPr>
          </a:p>
          <a:p>
            <a:pPr indent="-228600" lvl="0" marL="457200" rtl="0" algn="l">
              <a:lnSpc>
                <a:spcPct val="100000"/>
              </a:lnSpc>
              <a:spcBef>
                <a:spcPts val="0"/>
              </a:spcBef>
              <a:spcAft>
                <a:spcPts val="0"/>
              </a:spcAft>
              <a:buClr>
                <a:srgbClr val="334155"/>
              </a:buClr>
              <a:buSzPts val="1500"/>
              <a:buFont typeface="Times New Roman"/>
              <a:buNone/>
            </a:pPr>
            <a:r>
              <a:t/>
            </a:r>
            <a:endParaRPr sz="1500">
              <a:solidFill>
                <a:srgbClr val="334155"/>
              </a:solidFill>
              <a:highlight>
                <a:srgbClr val="FFF2CC"/>
              </a:highlight>
              <a:latin typeface="Times New Roman"/>
              <a:ea typeface="Times New Roman"/>
              <a:cs typeface="Times New Roman"/>
              <a:sym typeface="Times New Roman"/>
            </a:endParaRPr>
          </a:p>
        </p:txBody>
      </p:sp>
      <p:pic>
        <p:nvPicPr>
          <p:cNvPr id="101" name="Google Shape;101;g3ec5a9fa9ed_0_176"/>
          <p:cNvPicPr preferRelativeResize="0"/>
          <p:nvPr/>
        </p:nvPicPr>
        <p:blipFill>
          <a:blip r:embed="rId3">
            <a:alphaModFix/>
          </a:blip>
          <a:stretch>
            <a:fillRect/>
          </a:stretch>
        </p:blipFill>
        <p:spPr>
          <a:xfrm>
            <a:off x="4572025" y="1278950"/>
            <a:ext cx="4417074" cy="3301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 name="Shape 105"/>
        <p:cNvGrpSpPr/>
        <p:nvPr/>
      </p:nvGrpSpPr>
      <p:grpSpPr>
        <a:xfrm>
          <a:off x="0" y="0"/>
          <a:ext cx="0" cy="0"/>
          <a:chOff x="0" y="0"/>
          <a:chExt cx="0" cy="0"/>
        </a:xfrm>
      </p:grpSpPr>
      <p:sp>
        <p:nvSpPr>
          <p:cNvPr id="106" name="Google Shape;106;g3ec5a9fa9ed_0_107"/>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3. Phương pháp IDCIV - RS </a:t>
            </a:r>
            <a:endParaRPr sz="3000">
              <a:solidFill>
                <a:schemeClr val="lt1"/>
              </a:solidFill>
              <a:latin typeface="Times New Roman"/>
              <a:ea typeface="Times New Roman"/>
              <a:cs typeface="Times New Roman"/>
              <a:sym typeface="Times New Roman"/>
            </a:endParaRPr>
          </a:p>
        </p:txBody>
      </p:sp>
      <p:sp>
        <p:nvSpPr>
          <p:cNvPr id="107" name="Google Shape;107;g3ec5a9fa9ed_0_10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108" name="Google Shape;108;g3ec5a9fa9ed_0_107"/>
          <p:cNvSpPr txBox="1"/>
          <p:nvPr>
            <p:ph type="title"/>
          </p:nvPr>
        </p:nvSpPr>
        <p:spPr>
          <a:xfrm>
            <a:off x="416725" y="958250"/>
            <a:ext cx="4155300" cy="320700"/>
          </a:xfrm>
          <a:prstGeom prst="rect">
            <a:avLst/>
          </a:prstGeom>
          <a:solidFill>
            <a:srgbClr val="0000FF"/>
          </a:solidFill>
          <a:ln cap="flat" cmpd="sng" w="9525">
            <a:solidFill>
              <a:schemeClr val="lt1"/>
            </a:solidFill>
            <a:prstDash val="solid"/>
            <a:round/>
            <a:headEnd len="sm" w="sm" type="none"/>
            <a:tailEnd len="sm" w="sm" type="none"/>
          </a:ln>
        </p:spPr>
        <p:txBody>
          <a:bodyPr anchorCtr="0" anchor="t" bIns="0" lIns="0" spcFirstLastPara="1" rIns="0" wrap="square" tIns="12700">
            <a:spAutoFit/>
          </a:bodyPr>
          <a:lstStyle/>
          <a:p>
            <a:pPr indent="0" lvl="0" marL="0" rtl="0" algn="l">
              <a:lnSpc>
                <a:spcPct val="100000"/>
              </a:lnSpc>
              <a:spcBef>
                <a:spcPts val="1130"/>
              </a:spcBef>
              <a:spcAft>
                <a:spcPts val="0"/>
              </a:spcAft>
              <a:buSzPts val="1400"/>
              <a:buNone/>
            </a:pPr>
            <a:r>
              <a:rPr lang="vi" sz="2000">
                <a:solidFill>
                  <a:schemeClr val="lt1"/>
                </a:solidFill>
                <a:latin typeface="Times New Roman"/>
                <a:ea typeface="Times New Roman"/>
                <a:cs typeface="Times New Roman"/>
                <a:sym typeface="Times New Roman"/>
              </a:rPr>
              <a:t>3.2 Sơ đồ nhân quả</a:t>
            </a:r>
            <a:endParaRPr sz="2000">
              <a:solidFill>
                <a:schemeClr val="lt1"/>
              </a:solidFill>
              <a:latin typeface="Times New Roman"/>
              <a:ea typeface="Times New Roman"/>
              <a:cs typeface="Times New Roman"/>
              <a:sym typeface="Times New Roman"/>
            </a:endParaRPr>
          </a:p>
        </p:txBody>
      </p:sp>
      <p:sp>
        <p:nvSpPr>
          <p:cNvPr id="109" name="Google Shape;109;g3ec5a9fa9ed_0_107"/>
          <p:cNvSpPr txBox="1"/>
          <p:nvPr/>
        </p:nvSpPr>
        <p:spPr>
          <a:xfrm>
            <a:off x="416725" y="1278950"/>
            <a:ext cx="3778200" cy="33015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vi" sz="1500">
                <a:solidFill>
                  <a:srgbClr val="334155"/>
                </a:solidFill>
                <a:highlight>
                  <a:srgbClr val="FFF2CC"/>
                </a:highlight>
                <a:latin typeface="Times New Roman"/>
                <a:ea typeface="Times New Roman"/>
                <a:cs typeface="Times New Roman"/>
                <a:sym typeface="Times New Roman"/>
              </a:rPr>
              <a:t>Cơ chế chặn đường truyền Backdoor bằng Biến công cụ có điều kiện (CIV):</a:t>
            </a:r>
            <a:endParaRPr sz="1500">
              <a:solidFill>
                <a:srgbClr val="334155"/>
              </a:solidFill>
              <a:highlight>
                <a:srgbClr val="FFF2CC"/>
              </a:highlight>
              <a:latin typeface="Times New Roman"/>
              <a:ea typeface="Times New Roman"/>
              <a:cs typeface="Times New Roman"/>
              <a:sym typeface="Times New Roman"/>
            </a:endParaRPr>
          </a:p>
          <a:p>
            <a:pPr indent="-228600" lvl="0" marL="457200" rtl="0" algn="l">
              <a:lnSpc>
                <a:spcPct val="100000"/>
              </a:lnSpc>
              <a:spcBef>
                <a:spcPts val="900"/>
              </a:spcBef>
              <a:spcAft>
                <a:spcPts val="0"/>
              </a:spcAft>
              <a:buClr>
                <a:srgbClr val="334155"/>
              </a:buClr>
              <a:buSzPts val="1500"/>
              <a:buNone/>
            </a:pPr>
            <a:r>
              <a:rPr b="1" lang="vi" sz="1500">
                <a:solidFill>
                  <a:srgbClr val="334155"/>
                </a:solidFill>
                <a:highlight>
                  <a:srgbClr val="FFF2CC"/>
                </a:highlight>
                <a:latin typeface="Times New Roman"/>
                <a:ea typeface="Times New Roman"/>
                <a:cs typeface="Times New Roman"/>
                <a:sym typeface="Times New Roman"/>
              </a:rPr>
              <a:t>Zt (Conditional IV):</a:t>
            </a:r>
            <a:r>
              <a:rPr lang="vi" sz="1500">
                <a:solidFill>
                  <a:srgbClr val="334155"/>
                </a:solidFill>
                <a:highlight>
                  <a:srgbClr val="FFF2CC"/>
                </a:highlight>
                <a:latin typeface="Times New Roman"/>
                <a:ea typeface="Times New Roman"/>
                <a:cs typeface="Times New Roman"/>
                <a:sym typeface="Times New Roman"/>
              </a:rPr>
              <a:t> Biến công cụ có điều kiện học từ dữ liệu tương tác thực tế X.</a:t>
            </a:r>
            <a:endParaRPr sz="1500">
              <a:solidFill>
                <a:srgbClr val="334155"/>
              </a:solidFill>
              <a:highlight>
                <a:srgbClr val="FFF2CC"/>
              </a:highlight>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334155"/>
              </a:buClr>
              <a:buSzPts val="1500"/>
              <a:buNone/>
            </a:pPr>
            <a:r>
              <a:rPr b="1" lang="vi" sz="1500">
                <a:solidFill>
                  <a:srgbClr val="334155"/>
                </a:solidFill>
                <a:highlight>
                  <a:srgbClr val="FFF2CC"/>
                </a:highlight>
                <a:latin typeface="Times New Roman"/>
                <a:ea typeface="Times New Roman"/>
                <a:cs typeface="Times New Roman"/>
                <a:sym typeface="Times New Roman"/>
              </a:rPr>
              <a:t>Zc (Conditioning Set):</a:t>
            </a:r>
            <a:r>
              <a:rPr lang="vi" sz="1500">
                <a:solidFill>
                  <a:srgbClr val="334155"/>
                </a:solidFill>
                <a:highlight>
                  <a:srgbClr val="FFF2CC"/>
                </a:highlight>
                <a:latin typeface="Times New Roman"/>
                <a:ea typeface="Times New Roman"/>
                <a:cs typeface="Times New Roman"/>
                <a:sym typeface="Times New Roman"/>
              </a:rPr>
              <a:t> Tập điều kiện đi kèm giúp chặn các liên kết không hợp lệ.</a:t>
            </a:r>
            <a:endParaRPr sz="1500">
              <a:solidFill>
                <a:srgbClr val="334155"/>
              </a:solidFill>
              <a:highlight>
                <a:srgbClr val="FFF2CC"/>
              </a:highlight>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334155"/>
              </a:buClr>
              <a:buSzPts val="1500"/>
              <a:buNone/>
            </a:pPr>
            <a:r>
              <a:rPr b="1" lang="vi" sz="1500">
                <a:solidFill>
                  <a:srgbClr val="334155"/>
                </a:solidFill>
                <a:highlight>
                  <a:srgbClr val="FFF2CC"/>
                </a:highlight>
                <a:latin typeface="Times New Roman"/>
                <a:ea typeface="Times New Roman"/>
                <a:cs typeface="Times New Roman"/>
                <a:sym typeface="Times New Roman"/>
              </a:rPr>
              <a:t>Chặn backdoor hoàn hảo:</a:t>
            </a:r>
            <a:r>
              <a:rPr lang="vi" sz="1500">
                <a:solidFill>
                  <a:srgbClr val="334155"/>
                </a:solidFill>
                <a:highlight>
                  <a:srgbClr val="FFF2CC"/>
                </a:highlight>
                <a:latin typeface="Times New Roman"/>
                <a:ea typeface="Times New Roman"/>
                <a:cs typeface="Times New Roman"/>
                <a:sym typeface="Times New Roman"/>
              </a:rPr>
              <a:t> Khi kiểm soát dựa trên tập điều kiện Zc, mọi đường truyền backdoor phi nhân quả từ Zt đến click Y đều bị chặn hoàn toàn, cô lập tác động thuần túy của hiển thị quảng cáo W.</a:t>
            </a:r>
            <a:endParaRPr sz="1500">
              <a:solidFill>
                <a:srgbClr val="334155"/>
              </a:solidFill>
              <a:highlight>
                <a:srgbClr val="FFF2CC"/>
              </a:highlight>
              <a:latin typeface="Times New Roman"/>
              <a:ea typeface="Times New Roman"/>
              <a:cs typeface="Times New Roman"/>
              <a:sym typeface="Times New Roman"/>
            </a:endParaRPr>
          </a:p>
        </p:txBody>
      </p:sp>
      <p:pic>
        <p:nvPicPr>
          <p:cNvPr id="110" name="Google Shape;110;g3ec5a9fa9ed_0_107"/>
          <p:cNvPicPr preferRelativeResize="0"/>
          <p:nvPr/>
        </p:nvPicPr>
        <p:blipFill>
          <a:blip r:embed="rId3">
            <a:alphaModFix/>
          </a:blip>
          <a:stretch>
            <a:fillRect/>
          </a:stretch>
        </p:blipFill>
        <p:spPr>
          <a:xfrm>
            <a:off x="4195025" y="1278950"/>
            <a:ext cx="4803800" cy="3301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ec5a9fa9ed_0_195"/>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3. Phương pháp IDCIV - RS </a:t>
            </a:r>
            <a:endParaRPr sz="3000">
              <a:solidFill>
                <a:schemeClr val="lt1"/>
              </a:solidFill>
              <a:latin typeface="Times New Roman"/>
              <a:ea typeface="Times New Roman"/>
              <a:cs typeface="Times New Roman"/>
              <a:sym typeface="Times New Roman"/>
            </a:endParaRPr>
          </a:p>
        </p:txBody>
      </p:sp>
      <p:sp>
        <p:nvSpPr>
          <p:cNvPr id="116" name="Google Shape;116;g3ec5a9fa9ed_0_19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117" name="Google Shape;117;g3ec5a9fa9ed_0_195"/>
          <p:cNvSpPr txBox="1"/>
          <p:nvPr>
            <p:ph type="title"/>
          </p:nvPr>
        </p:nvSpPr>
        <p:spPr>
          <a:xfrm>
            <a:off x="416725" y="958250"/>
            <a:ext cx="4155300" cy="320700"/>
          </a:xfrm>
          <a:prstGeom prst="rect">
            <a:avLst/>
          </a:prstGeom>
          <a:solidFill>
            <a:srgbClr val="0000FF"/>
          </a:solidFill>
          <a:ln cap="flat" cmpd="sng" w="9525">
            <a:solidFill>
              <a:schemeClr val="lt1"/>
            </a:solidFill>
            <a:prstDash val="solid"/>
            <a:round/>
            <a:headEnd len="sm" w="sm" type="none"/>
            <a:tailEnd len="sm" w="sm" type="none"/>
          </a:ln>
        </p:spPr>
        <p:txBody>
          <a:bodyPr anchorCtr="0" anchor="t" bIns="0" lIns="0" spcFirstLastPara="1" rIns="0" wrap="square" tIns="12700">
            <a:spAutoFit/>
          </a:bodyPr>
          <a:lstStyle/>
          <a:p>
            <a:pPr indent="0" lvl="0" marL="0" rtl="0" algn="l">
              <a:lnSpc>
                <a:spcPct val="100000"/>
              </a:lnSpc>
              <a:spcBef>
                <a:spcPts val="1130"/>
              </a:spcBef>
              <a:spcAft>
                <a:spcPts val="0"/>
              </a:spcAft>
              <a:buSzPts val="1400"/>
              <a:buNone/>
            </a:pPr>
            <a:r>
              <a:rPr lang="vi" sz="2000">
                <a:solidFill>
                  <a:schemeClr val="lt1"/>
                </a:solidFill>
                <a:latin typeface="Times New Roman"/>
                <a:ea typeface="Times New Roman"/>
                <a:cs typeface="Times New Roman"/>
                <a:sym typeface="Times New Roman"/>
              </a:rPr>
              <a:t>3.</a:t>
            </a:r>
            <a:r>
              <a:rPr lang="vi" sz="2000">
                <a:solidFill>
                  <a:schemeClr val="lt1"/>
                </a:solidFill>
                <a:latin typeface="Times New Roman"/>
                <a:ea typeface="Times New Roman"/>
                <a:cs typeface="Times New Roman"/>
                <a:sym typeface="Times New Roman"/>
              </a:rPr>
              <a:t>2</a:t>
            </a:r>
            <a:r>
              <a:rPr lang="vi" sz="2000">
                <a:solidFill>
                  <a:schemeClr val="lt1"/>
                </a:solidFill>
                <a:latin typeface="Times New Roman"/>
                <a:ea typeface="Times New Roman"/>
                <a:cs typeface="Times New Roman"/>
                <a:sym typeface="Times New Roman"/>
              </a:rPr>
              <a:t> Sơ đồ nhân quả</a:t>
            </a:r>
            <a:endParaRPr sz="2000">
              <a:solidFill>
                <a:schemeClr val="lt1"/>
              </a:solidFill>
              <a:latin typeface="Times New Roman"/>
              <a:ea typeface="Times New Roman"/>
              <a:cs typeface="Times New Roman"/>
              <a:sym typeface="Times New Roman"/>
            </a:endParaRPr>
          </a:p>
        </p:txBody>
      </p:sp>
      <p:sp>
        <p:nvSpPr>
          <p:cNvPr id="118" name="Google Shape;118;g3ec5a9fa9ed_0_195"/>
          <p:cNvSpPr txBox="1"/>
          <p:nvPr/>
        </p:nvSpPr>
        <p:spPr>
          <a:xfrm>
            <a:off x="106800" y="1470950"/>
            <a:ext cx="9037200" cy="310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vi" sz="1600">
                <a:solidFill>
                  <a:schemeClr val="dk1"/>
                </a:solidFill>
                <a:latin typeface="Times New Roman"/>
                <a:ea typeface="Times New Roman"/>
                <a:cs typeface="Times New Roman"/>
                <a:sym typeface="Times New Roman"/>
              </a:rPr>
              <a:t>Phân tích cơ chế hoạt động nhân quả (Tại sao mô hình loại bỏ được thiên lệch?)</a:t>
            </a:r>
            <a:endParaRPr b="1" sz="1600">
              <a:solidFill>
                <a:schemeClr val="dk1"/>
              </a:solidFill>
              <a:latin typeface="Times New Roman"/>
              <a:ea typeface="Times New Roman"/>
              <a:cs typeface="Times New Roman"/>
              <a:sym typeface="Times New Roman"/>
            </a:endParaRPr>
          </a:p>
          <a:p>
            <a:pPr indent="-330200" lvl="0" marL="457200" rtl="0" algn="l">
              <a:lnSpc>
                <a:spcPct val="115000"/>
              </a:lnSpc>
              <a:spcBef>
                <a:spcPts val="400"/>
              </a:spcBef>
              <a:spcAft>
                <a:spcPts val="0"/>
              </a:spcAft>
              <a:buClr>
                <a:schemeClr val="dk1"/>
              </a:buClr>
              <a:buSzPts val="1600"/>
              <a:buChar char="●"/>
            </a:pPr>
            <a:r>
              <a:rPr b="1" lang="vi" sz="1600">
                <a:solidFill>
                  <a:schemeClr val="dk1"/>
                </a:solidFill>
                <a:latin typeface="Times New Roman"/>
                <a:ea typeface="Times New Roman"/>
                <a:cs typeface="Times New Roman"/>
                <a:sym typeface="Times New Roman"/>
              </a:rPr>
              <a:t>Vấn đề của đường truyền sai số (Backdoor Path):</a:t>
            </a:r>
            <a:r>
              <a:rPr lang="vi" sz="1600">
                <a:solidFill>
                  <a:schemeClr val="dk1"/>
                </a:solidFill>
                <a:latin typeface="Times New Roman"/>
                <a:ea typeface="Times New Roman"/>
                <a:cs typeface="Times New Roman"/>
                <a:sym typeface="Times New Roman"/>
              </a:rPr>
              <a:t> Sự tồn tại của nhiễu ẩn $U_c$ tạo ra một đường truyền phi nhân quả (backdoor path): $W \leftarrow U_c \rightarrow Y$. Đường truyền này khiến cho các mô hình Machine Learning truyền thống bị ngộ nhận rằng người dùng click vì thích sản phẩm ($W \rightarrow Y$), trong khi thực tế họ click vì bị tác động bởi nhiễu $U_c$.</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Char char="●"/>
            </a:pPr>
            <a:r>
              <a:rPr b="1" lang="vi" sz="1600">
                <a:solidFill>
                  <a:schemeClr val="dk1"/>
                </a:solidFill>
                <a:latin typeface="Times New Roman"/>
                <a:ea typeface="Times New Roman"/>
                <a:cs typeface="Times New Roman"/>
                <a:sym typeface="Times New Roman"/>
              </a:rPr>
              <a:t>Rào cản từ mối quan hệ giữa $U_c$ và dữ liệu:</a:t>
            </a:r>
            <a:br>
              <a:rPr b="1" lang="vi" sz="1600">
                <a:solidFill>
                  <a:schemeClr val="dk1"/>
                </a:solidFill>
                <a:latin typeface="Times New Roman"/>
                <a:ea typeface="Times New Roman"/>
                <a:cs typeface="Times New Roman"/>
                <a:sym typeface="Times New Roman"/>
              </a:rPr>
            </a:br>
            <a:r>
              <a:rPr lang="vi" sz="1600">
                <a:solidFill>
                  <a:schemeClr val="dk1"/>
                </a:solidFill>
                <a:latin typeface="Times New Roman"/>
                <a:ea typeface="Times New Roman"/>
                <a:cs typeface="Times New Roman"/>
                <a:sym typeface="Times New Roman"/>
              </a:rPr>
              <a:t>Trong sơ đồ, đường nét đứt cong từ $U_c$ hướng đến $Z_c$ thể hiện rằng nhiễu tiềm ẩn vẫn có mối liên hệ mật thiết và làm ảnh hưởng đến dữ liệu đầu vào. Do đó, ta không thể tìm thấy một biến công cụ thuần túy hoàn toàn độc lập với nhiễu ẩn nếu chỉ lấy trực tiếp từ hệ thống.</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ec5a9fa9ed_0_184"/>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3. Phương pháp IDCIV - RS </a:t>
            </a:r>
            <a:endParaRPr sz="3000">
              <a:solidFill>
                <a:schemeClr val="lt1"/>
              </a:solidFill>
              <a:latin typeface="Times New Roman"/>
              <a:ea typeface="Times New Roman"/>
              <a:cs typeface="Times New Roman"/>
              <a:sym typeface="Times New Roman"/>
            </a:endParaRPr>
          </a:p>
        </p:txBody>
      </p:sp>
      <p:sp>
        <p:nvSpPr>
          <p:cNvPr id="124" name="Google Shape;124;g3ec5a9fa9ed_0_184"/>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125" name="Google Shape;125;g3ec5a9fa9ed_0_184"/>
          <p:cNvSpPr txBox="1"/>
          <p:nvPr>
            <p:ph type="title"/>
          </p:nvPr>
        </p:nvSpPr>
        <p:spPr>
          <a:xfrm>
            <a:off x="416725" y="958250"/>
            <a:ext cx="4155300" cy="320700"/>
          </a:xfrm>
          <a:prstGeom prst="rect">
            <a:avLst/>
          </a:prstGeom>
          <a:solidFill>
            <a:srgbClr val="0000FF"/>
          </a:solidFill>
          <a:ln cap="flat" cmpd="sng" w="9525">
            <a:solidFill>
              <a:schemeClr val="lt1"/>
            </a:solidFill>
            <a:prstDash val="solid"/>
            <a:round/>
            <a:headEnd len="sm" w="sm" type="none"/>
            <a:tailEnd len="sm" w="sm" type="none"/>
          </a:ln>
        </p:spPr>
        <p:txBody>
          <a:bodyPr anchorCtr="0" anchor="t" bIns="0" lIns="0" spcFirstLastPara="1" rIns="0" wrap="square" tIns="12700">
            <a:spAutoFit/>
          </a:bodyPr>
          <a:lstStyle/>
          <a:p>
            <a:pPr indent="0" lvl="0" marL="0" rtl="0" algn="l">
              <a:lnSpc>
                <a:spcPct val="100000"/>
              </a:lnSpc>
              <a:spcBef>
                <a:spcPts val="1130"/>
              </a:spcBef>
              <a:spcAft>
                <a:spcPts val="0"/>
              </a:spcAft>
              <a:buSzPts val="1400"/>
              <a:buNone/>
            </a:pPr>
            <a:r>
              <a:rPr lang="vi" sz="2000">
                <a:solidFill>
                  <a:schemeClr val="lt1"/>
                </a:solidFill>
                <a:latin typeface="Times New Roman"/>
                <a:ea typeface="Times New Roman"/>
                <a:cs typeface="Times New Roman"/>
                <a:sym typeface="Times New Roman"/>
              </a:rPr>
              <a:t>3.2 Sơ đồ nhân quả</a:t>
            </a:r>
            <a:endParaRPr sz="2000">
              <a:solidFill>
                <a:schemeClr val="lt1"/>
              </a:solidFill>
              <a:latin typeface="Times New Roman"/>
              <a:ea typeface="Times New Roman"/>
              <a:cs typeface="Times New Roman"/>
              <a:sym typeface="Times New Roman"/>
            </a:endParaRPr>
          </a:p>
        </p:txBody>
      </p:sp>
      <p:sp>
        <p:nvSpPr>
          <p:cNvPr id="126" name="Google Shape;126;g3ec5a9fa9ed_0_184"/>
          <p:cNvSpPr txBox="1"/>
          <p:nvPr/>
        </p:nvSpPr>
        <p:spPr>
          <a:xfrm>
            <a:off x="106800" y="1470950"/>
            <a:ext cx="9037200" cy="29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vi" sz="1300">
                <a:solidFill>
                  <a:schemeClr val="dk1"/>
                </a:solidFill>
              </a:rPr>
              <a:t>Phân tích cơ chế hoạt động nhân quả (Tại sao mô hình loại bỏ được thiên lệch?)</a:t>
            </a:r>
            <a:endParaRPr sz="1100">
              <a:solidFill>
                <a:schemeClr val="dk1"/>
              </a:solidFill>
            </a:endParaRPr>
          </a:p>
          <a:p>
            <a:pPr indent="-298450" lvl="0" marL="457200" rtl="0" algn="l">
              <a:lnSpc>
                <a:spcPct val="115000"/>
              </a:lnSpc>
              <a:spcBef>
                <a:spcPts val="400"/>
              </a:spcBef>
              <a:spcAft>
                <a:spcPts val="0"/>
              </a:spcAft>
              <a:buClr>
                <a:schemeClr val="dk1"/>
              </a:buClr>
              <a:buSzPts val="1100"/>
              <a:buChar char="●"/>
            </a:pPr>
            <a:r>
              <a:rPr b="1" lang="vi" sz="1100">
                <a:solidFill>
                  <a:schemeClr val="dk1"/>
                </a:solidFill>
              </a:rPr>
              <a:t>Giải pháp của IDCIV-RS thông qua cơ chế Điều kiện hóa (Conditioning):</a:t>
            </a:r>
            <a:r>
              <a:rPr lang="vi" sz="1100">
                <a:solidFill>
                  <a:schemeClr val="dk1"/>
                </a:solidFill>
              </a:rPr>
              <a:t> Mô hình tiến hành tách dữ liệu $X$ thành hai phần có vai trò khác nhau:</a:t>
            </a:r>
            <a:endParaRPr sz="1100">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vi" sz="1100">
                <a:solidFill>
                  <a:schemeClr val="dk1"/>
                </a:solidFill>
              </a:rPr>
              <a:t>$Z_c$ gánh chịu và hấp thụ tác động của nhiễu:</a:t>
            </a:r>
            <a:r>
              <a:rPr lang="vi" sz="1100">
                <a:solidFill>
                  <a:schemeClr val="dk1"/>
                </a:solidFill>
              </a:rPr>
              <a:t> Mũi tên từ $Z_c \rightarrow W$ và $Z_c \rightarrow Y$ cho thấy $Z_c$ đóng vai trò như một biến kiểm soát cấu trúc nhiễu. Khi mô hình thực hiện </a:t>
            </a:r>
            <a:r>
              <a:rPr b="1" lang="vi" sz="1100">
                <a:solidFill>
                  <a:schemeClr val="dk1"/>
                </a:solidFill>
              </a:rPr>
              <a:t>điều kiện hóa dựa trên $Z_c$ (conditioning on $Z_c$)</a:t>
            </a:r>
            <a:r>
              <a:rPr lang="vi" sz="1100">
                <a:solidFill>
                  <a:schemeClr val="dk1"/>
                </a:solidFill>
              </a:rPr>
              <a:t>, đường truyền ảnh hưởng từ nhiễu ẩn $U_c$ sang hệ thống sẽ bị chặn đứng (block).</a:t>
            </a:r>
            <a:endParaRPr sz="1100">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vi" sz="1100">
                <a:solidFill>
                  <a:schemeClr val="dk1"/>
                </a:solidFill>
              </a:rPr>
              <a:t>$Z_t$ trở thành Biến công cụ sạch (Valid CIV):</a:t>
            </a:r>
            <a:r>
              <a:rPr lang="vi" sz="1100">
                <a:solidFill>
                  <a:schemeClr val="dk1"/>
                </a:solidFill>
              </a:rPr>
              <a:t> Sau khi $Z_c$ đã khóa đường truyền của nhiễu, biến $Z_t$ (với mũi tên chỉ vào $W$ và có mối liên hệ gián tiếp thông qua $Z_c$) sẽ trở thành một Biến công cụ có điều kiện hoàn toàn hợp lệ. $Z_t$ lúc này chỉ tác động đến kết quả $Y$ duy nhất thông qua một con đường: đi qua biến can thiệp $W$ ($Z_t \rightarrow W \rightarrow Y$).</a:t>
            </a:r>
            <a:endParaRPr sz="1100">
              <a:solidFill>
                <a:schemeClr val="dk1"/>
              </a:solidFill>
            </a:endParaRPr>
          </a:p>
          <a:p>
            <a:pPr indent="0" lvl="0" marL="0" rtl="0" algn="l">
              <a:lnSpc>
                <a:spcPct val="115000"/>
              </a:lnSpc>
              <a:spcBef>
                <a:spcPts val="1200"/>
              </a:spcBef>
              <a:spcAft>
                <a:spcPts val="1200"/>
              </a:spcAft>
              <a:buNone/>
            </a:pPr>
            <a:r>
              <a:rPr b="1" lang="vi" sz="1100">
                <a:solidFill>
                  <a:schemeClr val="dk1"/>
                </a:solidFill>
              </a:rPr>
              <a:t>Kết luận:</a:t>
            </a:r>
            <a:r>
              <a:rPr lang="vi" sz="1100">
                <a:solidFill>
                  <a:schemeClr val="dk1"/>
                </a:solidFill>
              </a:rPr>
              <a:t> Nhờ việc chia tách và ép dữ liệu tuân theo cấu trúc DAG này, mô hình IDCIV-RS có thể cô lập và đo lường chính xác tác động nhân quả thuần túy $W \rightarrow Y$, loại bỏ hoàn toàn các tương quan giả do nhiễu ẩn $U_c$ gây ra mà không cần bổ sung bất kỳ nguồn dữ liệu ngoại sinh nào từ bên ngoài.</a:t>
            </a:r>
            <a:endParaRPr sz="11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ec5a9fa9ed_0_77"/>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4</a:t>
            </a:r>
            <a:r>
              <a:rPr lang="vi" sz="3000">
                <a:solidFill>
                  <a:schemeClr val="lt1"/>
                </a:solidFill>
                <a:latin typeface="Times New Roman"/>
                <a:ea typeface="Times New Roman"/>
                <a:cs typeface="Times New Roman"/>
                <a:sym typeface="Times New Roman"/>
              </a:rPr>
              <a:t>. Dữ l</a:t>
            </a:r>
            <a:r>
              <a:rPr lang="vi" sz="3000">
                <a:solidFill>
                  <a:schemeClr val="lt1"/>
                </a:solidFill>
                <a:latin typeface="Times New Roman"/>
                <a:ea typeface="Times New Roman"/>
                <a:cs typeface="Times New Roman"/>
                <a:sym typeface="Times New Roman"/>
              </a:rPr>
              <a:t>iệu</a:t>
            </a:r>
            <a:endParaRPr sz="3000">
              <a:solidFill>
                <a:schemeClr val="lt1"/>
              </a:solidFill>
              <a:latin typeface="Times New Roman"/>
              <a:ea typeface="Times New Roman"/>
              <a:cs typeface="Times New Roman"/>
              <a:sym typeface="Times New Roman"/>
            </a:endParaRPr>
          </a:p>
        </p:txBody>
      </p:sp>
      <p:sp>
        <p:nvSpPr>
          <p:cNvPr id="132" name="Google Shape;132;g3ec5a9fa9ed_0_7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pic>
        <p:nvPicPr>
          <p:cNvPr id="133" name="Google Shape;133;g3ec5a9fa9ed_0_77"/>
          <p:cNvPicPr preferRelativeResize="0"/>
          <p:nvPr/>
        </p:nvPicPr>
        <p:blipFill>
          <a:blip r:embed="rId3">
            <a:alphaModFix/>
          </a:blip>
          <a:stretch>
            <a:fillRect/>
          </a:stretch>
        </p:blipFill>
        <p:spPr>
          <a:xfrm>
            <a:off x="2013600" y="2434375"/>
            <a:ext cx="5829300" cy="1619250"/>
          </a:xfrm>
          <a:prstGeom prst="rect">
            <a:avLst/>
          </a:prstGeom>
          <a:noFill/>
          <a:ln>
            <a:noFill/>
          </a:ln>
        </p:spPr>
      </p:pic>
      <p:sp>
        <p:nvSpPr>
          <p:cNvPr id="134" name="Google Shape;134;g3ec5a9fa9ed_0_77"/>
          <p:cNvSpPr txBox="1"/>
          <p:nvPr/>
        </p:nvSpPr>
        <p:spPr>
          <a:xfrm>
            <a:off x="712500" y="907150"/>
            <a:ext cx="8431500" cy="1463700"/>
          </a:xfrm>
          <a:prstGeom prst="rect">
            <a:avLst/>
          </a:prstGeom>
          <a:noFill/>
          <a:ln>
            <a:noFill/>
          </a:ln>
        </p:spPr>
        <p:txBody>
          <a:bodyPr anchorCtr="0" anchor="t" bIns="91425" lIns="91425" spcFirstLastPara="1" rIns="91425" wrap="square" tIns="91425">
            <a:spAutoFit/>
          </a:bodyPr>
          <a:lstStyle/>
          <a:p>
            <a:pPr indent="0" lvl="0" marL="0" rtl="0" algn="just">
              <a:lnSpc>
                <a:spcPct val="160000"/>
              </a:lnSpc>
              <a:spcBef>
                <a:spcPts val="0"/>
              </a:spcBef>
              <a:spcAft>
                <a:spcPts val="0"/>
              </a:spcAft>
              <a:buNone/>
            </a:pPr>
            <a:r>
              <a:rPr lang="vi" sz="1800">
                <a:solidFill>
                  <a:srgbClr val="334155"/>
                </a:solidFill>
                <a:highlight>
                  <a:schemeClr val="lt1"/>
                </a:highlight>
                <a:latin typeface="Times New Roman"/>
                <a:ea typeface="Times New Roman"/>
                <a:cs typeface="Times New Roman"/>
                <a:sym typeface="Times New Roman"/>
              </a:rPr>
              <a:t>Thực nghiệm được thực hiện diện rộng trên hai bộ dữ liệu benchmark thực tế quy mô lớn:</a:t>
            </a:r>
            <a:endParaRPr sz="1800">
              <a:solidFill>
                <a:srgbClr val="334155"/>
              </a:solidFill>
              <a:highlight>
                <a:schemeClr val="lt1"/>
              </a:highlight>
              <a:latin typeface="Times New Roman"/>
              <a:ea typeface="Times New Roman"/>
              <a:cs typeface="Times New Roman"/>
              <a:sym typeface="Times New Roman"/>
            </a:endParaRPr>
          </a:p>
          <a:p>
            <a:pPr indent="-228600" lvl="0" marL="457200" rtl="0" algn="just">
              <a:lnSpc>
                <a:spcPct val="160000"/>
              </a:lnSpc>
              <a:spcBef>
                <a:spcPts val="900"/>
              </a:spcBef>
              <a:spcAft>
                <a:spcPts val="0"/>
              </a:spcAft>
              <a:buClr>
                <a:srgbClr val="334155"/>
              </a:buClr>
              <a:buSzPts val="1800"/>
              <a:buNone/>
            </a:pPr>
            <a:r>
              <a:rPr b="1" lang="vi" sz="1800">
                <a:solidFill>
                  <a:srgbClr val="334155"/>
                </a:solidFill>
                <a:highlight>
                  <a:schemeClr val="lt1"/>
                </a:highlight>
                <a:latin typeface="Times New Roman"/>
                <a:ea typeface="Times New Roman"/>
                <a:cs typeface="Times New Roman"/>
                <a:sym typeface="Times New Roman"/>
              </a:rPr>
              <a:t>MovieLens-10M:</a:t>
            </a:r>
            <a:r>
              <a:rPr lang="vi" sz="1800">
                <a:solidFill>
                  <a:srgbClr val="334155"/>
                </a:solidFill>
                <a:highlight>
                  <a:schemeClr val="lt1"/>
                </a:highlight>
                <a:latin typeface="Times New Roman"/>
                <a:ea typeface="Times New Roman"/>
                <a:cs typeface="Times New Roman"/>
                <a:sym typeface="Times New Roman"/>
              </a:rPr>
              <a:t> Đánh giá khả năng dự đoán sở thích điện ảnh đại chúng.</a:t>
            </a:r>
            <a:endParaRPr sz="1800">
              <a:solidFill>
                <a:srgbClr val="334155"/>
              </a:solidFill>
              <a:highlight>
                <a:schemeClr val="lt1"/>
              </a:highlight>
              <a:latin typeface="Times New Roman"/>
              <a:ea typeface="Times New Roman"/>
              <a:cs typeface="Times New Roman"/>
              <a:sym typeface="Times New Roman"/>
            </a:endParaRPr>
          </a:p>
          <a:p>
            <a:pPr indent="-228600" lvl="0" marL="457200" rtl="0" algn="just">
              <a:lnSpc>
                <a:spcPct val="160000"/>
              </a:lnSpc>
              <a:spcBef>
                <a:spcPts val="0"/>
              </a:spcBef>
              <a:spcAft>
                <a:spcPts val="0"/>
              </a:spcAft>
              <a:buClr>
                <a:srgbClr val="334155"/>
              </a:buClr>
              <a:buSzPts val="1800"/>
              <a:buNone/>
            </a:pPr>
            <a:r>
              <a:rPr b="1" lang="vi" sz="1800">
                <a:solidFill>
                  <a:srgbClr val="334155"/>
                </a:solidFill>
                <a:highlight>
                  <a:schemeClr val="lt1"/>
                </a:highlight>
                <a:latin typeface="Times New Roman"/>
                <a:ea typeface="Times New Roman"/>
                <a:cs typeface="Times New Roman"/>
                <a:sym typeface="Times New Roman"/>
              </a:rPr>
              <a:t>Douban-Movie:</a:t>
            </a:r>
            <a:r>
              <a:rPr lang="vi" sz="1800">
                <a:solidFill>
                  <a:srgbClr val="334155"/>
                </a:solidFill>
                <a:highlight>
                  <a:schemeClr val="lt1"/>
                </a:highlight>
                <a:latin typeface="Times New Roman"/>
                <a:ea typeface="Times New Roman"/>
                <a:cs typeface="Times New Roman"/>
                <a:sym typeface="Times New Roman"/>
              </a:rPr>
              <a:t> Bộ dữ liệu chứa mức độ thưa thớt cực hạn lên đến </a:t>
            </a:r>
            <a:r>
              <a:rPr b="1" lang="vi" sz="1800">
                <a:solidFill>
                  <a:srgbClr val="334155"/>
                </a:solidFill>
                <a:highlight>
                  <a:schemeClr val="lt1"/>
                </a:highlight>
                <a:latin typeface="Times New Roman"/>
                <a:ea typeface="Times New Roman"/>
                <a:cs typeface="Times New Roman"/>
                <a:sym typeface="Times New Roman"/>
              </a:rPr>
              <a:t>99.64%</a:t>
            </a:r>
            <a:r>
              <a:rPr lang="vi" sz="1800">
                <a:solidFill>
                  <a:srgbClr val="334155"/>
                </a:solidFill>
                <a:highlight>
                  <a:schemeClr val="lt1"/>
                </a:highlight>
                <a:latin typeface="Times New Roman"/>
                <a:ea typeface="Times New Roman"/>
                <a:cs typeface="Times New Roman"/>
                <a:sym typeface="Times New Roman"/>
              </a:rPr>
              <a:t>.</a:t>
            </a:r>
            <a:endParaRPr sz="1800">
              <a:solidFill>
                <a:srgbClr val="334155"/>
              </a:solidFill>
              <a:highlight>
                <a:schemeClr val="lt1"/>
              </a:highlight>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c5a9fa9ed_0_83"/>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140" name="Google Shape;140;g3ec5a9fa9ed_0_83"/>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5</a:t>
            </a:r>
            <a:r>
              <a:rPr lang="vi" sz="3000">
                <a:solidFill>
                  <a:schemeClr val="lt1"/>
                </a:solidFill>
                <a:latin typeface="Times New Roman"/>
                <a:ea typeface="Times New Roman"/>
                <a:cs typeface="Times New Roman"/>
                <a:sym typeface="Times New Roman"/>
              </a:rPr>
              <a:t>. Th</a:t>
            </a:r>
            <a:r>
              <a:rPr lang="vi" sz="3000">
                <a:solidFill>
                  <a:schemeClr val="lt1"/>
                </a:solidFill>
                <a:latin typeface="Times New Roman"/>
                <a:ea typeface="Times New Roman"/>
                <a:cs typeface="Times New Roman"/>
                <a:sym typeface="Times New Roman"/>
              </a:rPr>
              <a:t>ực</a:t>
            </a:r>
            <a:r>
              <a:rPr lang="vi" sz="3000">
                <a:solidFill>
                  <a:schemeClr val="lt1"/>
                </a:solidFill>
                <a:latin typeface="Times New Roman"/>
                <a:ea typeface="Times New Roman"/>
                <a:cs typeface="Times New Roman"/>
                <a:sym typeface="Times New Roman"/>
              </a:rPr>
              <a:t> ngh</a:t>
            </a:r>
            <a:r>
              <a:rPr lang="vi" sz="3000">
                <a:solidFill>
                  <a:schemeClr val="lt1"/>
                </a:solidFill>
                <a:latin typeface="Times New Roman"/>
                <a:ea typeface="Times New Roman"/>
                <a:cs typeface="Times New Roman"/>
                <a:sym typeface="Times New Roman"/>
              </a:rPr>
              <a:t>iệm</a:t>
            </a:r>
            <a:endParaRPr sz="3000">
              <a:solidFill>
                <a:schemeClr val="lt1"/>
              </a:solidFill>
              <a:latin typeface="Times New Roman"/>
              <a:ea typeface="Times New Roman"/>
              <a:cs typeface="Times New Roman"/>
              <a:sym typeface="Times New Roman"/>
            </a:endParaRPr>
          </a:p>
        </p:txBody>
      </p:sp>
      <p:sp>
        <p:nvSpPr>
          <p:cNvPr id="141" name="Google Shape;141;g3ec5a9fa9ed_0_83"/>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142" name="Google Shape;142;g3ec5a9fa9ed_0_83"/>
          <p:cNvSpPr txBox="1"/>
          <p:nvPr/>
        </p:nvSpPr>
        <p:spPr>
          <a:xfrm>
            <a:off x="308700" y="884500"/>
            <a:ext cx="8835300" cy="3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vi" sz="1800">
                <a:solidFill>
                  <a:schemeClr val="dk1"/>
                </a:solidFill>
                <a:latin typeface="Times New Roman"/>
                <a:ea typeface="Times New Roman"/>
                <a:cs typeface="Times New Roman"/>
                <a:sym typeface="Times New Roman"/>
              </a:rPr>
              <a:t>Nghiên cứu tiến hành thực nghiệm diện rộng để chứng minh tính vững chãi của mô hình:</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b="1" lang="vi" sz="1800">
                <a:solidFill>
                  <a:schemeClr val="dk1"/>
                </a:solidFill>
                <a:latin typeface="Times New Roman"/>
                <a:ea typeface="Times New Roman"/>
                <a:cs typeface="Times New Roman"/>
                <a:sym typeface="Times New Roman"/>
              </a:rPr>
              <a:t>Hai bộ dữ liệu thực tế quy mô lớn (Real-world Datasets):</a:t>
            </a:r>
            <a:endParaRPr b="1" sz="1800">
              <a:solidFill>
                <a:schemeClr val="dk1"/>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dk1"/>
              </a:buClr>
              <a:buSzPts val="1800"/>
              <a:buAutoNum type="arabicPeriod"/>
            </a:pPr>
            <a:r>
              <a:rPr b="1" lang="vi" sz="1800">
                <a:solidFill>
                  <a:schemeClr val="dk1"/>
                </a:solidFill>
                <a:latin typeface="Times New Roman"/>
                <a:ea typeface="Times New Roman"/>
                <a:cs typeface="Times New Roman"/>
                <a:sym typeface="Times New Roman"/>
              </a:rPr>
              <a:t>MovieLens-10M:</a:t>
            </a:r>
            <a:r>
              <a:rPr lang="vi" sz="1800">
                <a:solidFill>
                  <a:schemeClr val="dk1"/>
                </a:solidFill>
                <a:latin typeface="Times New Roman"/>
                <a:ea typeface="Times New Roman"/>
                <a:cs typeface="Times New Roman"/>
                <a:sym typeface="Times New Roman"/>
              </a:rPr>
              <a:t> Thử nghiệm trên $10,000,054$ tương tác từ $69,878$ người dùng và $10,677$ phim. Độ thưa thớt (Sparsity): $98.66\%$.</a:t>
            </a:r>
            <a:endParaRPr sz="1800">
              <a:solidFill>
                <a:schemeClr val="dk1"/>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dk1"/>
              </a:buClr>
              <a:buSzPts val="1800"/>
              <a:buAutoNum type="arabicPeriod"/>
            </a:pPr>
            <a:r>
              <a:rPr b="1" lang="vi" sz="1800">
                <a:solidFill>
                  <a:schemeClr val="dk1"/>
                </a:solidFill>
                <a:latin typeface="Times New Roman"/>
                <a:ea typeface="Times New Roman"/>
                <a:cs typeface="Times New Roman"/>
                <a:sym typeface="Times New Roman"/>
              </a:rPr>
              <a:t>Douban-Movie:</a:t>
            </a:r>
            <a:r>
              <a:rPr lang="vi" sz="1800">
                <a:solidFill>
                  <a:schemeClr val="dk1"/>
                </a:solidFill>
                <a:latin typeface="Times New Roman"/>
                <a:ea typeface="Times New Roman"/>
                <a:cs typeface="Times New Roman"/>
                <a:sym typeface="Times New Roman"/>
              </a:rPr>
              <a:t> Gồm $6,211,452$ tương tác từ $50,000$ người dùng và $34,893$ phim. Độ thưa thớt cực đoan: $99.64\%$.</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Char char="●"/>
            </a:pPr>
            <a:r>
              <a:rPr b="1" lang="vi" sz="1800">
                <a:solidFill>
                  <a:schemeClr val="dk1"/>
                </a:solidFill>
                <a:latin typeface="Times New Roman"/>
                <a:ea typeface="Times New Roman"/>
                <a:cs typeface="Times New Roman"/>
                <a:sym typeface="Times New Roman"/>
              </a:rPr>
              <a:t>Các mô hình nền tảng đối chứng (Baselines):</a:t>
            </a:r>
            <a:r>
              <a:rPr lang="vi" sz="1800">
                <a:solidFill>
                  <a:schemeClr val="dk1"/>
                </a:solidFill>
                <a:latin typeface="Times New Roman"/>
                <a:ea typeface="Times New Roman"/>
                <a:cs typeface="Times New Roman"/>
                <a:sym typeface="Times New Roman"/>
              </a:rPr>
              <a:t> So sánh trực tiếp với các nhóm thuật toán SOTA hiện nay bao gồm: Nhóm truyền thống (MF, BPR), nhóm gán trọng số (IPS, CausE), và các phương pháp tiếp cận Biến công cụ thế hệ trước (như IV4Rec).</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Char char="●"/>
            </a:pPr>
            <a:r>
              <a:rPr b="1" lang="vi" sz="1800">
                <a:solidFill>
                  <a:schemeClr val="dk1"/>
                </a:solidFill>
                <a:latin typeface="Times New Roman"/>
                <a:ea typeface="Times New Roman"/>
                <a:cs typeface="Times New Roman"/>
                <a:sym typeface="Times New Roman"/>
              </a:rPr>
              <a:t>Chỉ số đánh giá (Metrics):</a:t>
            </a:r>
            <a:r>
              <a:rPr lang="vi" sz="1800">
                <a:solidFill>
                  <a:schemeClr val="dk1"/>
                </a:solidFill>
                <a:latin typeface="Times New Roman"/>
                <a:ea typeface="Times New Roman"/>
                <a:cs typeface="Times New Roman"/>
                <a:sym typeface="Times New Roman"/>
              </a:rPr>
              <a:t> Sử dụng các thang đo tiêu chuẩn hiệu năng hệ thống RS là </a:t>
            </a:r>
            <a:r>
              <a:rPr b="1" lang="vi" sz="1800">
                <a:solidFill>
                  <a:schemeClr val="dk1"/>
                </a:solidFill>
                <a:latin typeface="Times New Roman"/>
                <a:ea typeface="Times New Roman"/>
                <a:cs typeface="Times New Roman"/>
                <a:sym typeface="Times New Roman"/>
              </a:rPr>
              <a:t>Recall@K</a:t>
            </a:r>
            <a:r>
              <a:rPr lang="vi" sz="1800">
                <a:solidFill>
                  <a:schemeClr val="dk1"/>
                </a:solidFill>
                <a:latin typeface="Times New Roman"/>
                <a:ea typeface="Times New Roman"/>
                <a:cs typeface="Times New Roman"/>
                <a:sym typeface="Times New Roman"/>
              </a:rPr>
              <a:t> và </a:t>
            </a:r>
            <a:r>
              <a:rPr b="1" lang="vi" sz="1800">
                <a:solidFill>
                  <a:schemeClr val="dk1"/>
                </a:solidFill>
                <a:latin typeface="Times New Roman"/>
                <a:ea typeface="Times New Roman"/>
                <a:cs typeface="Times New Roman"/>
                <a:sym typeface="Times New Roman"/>
              </a:rPr>
              <a:t>NDCG@K</a:t>
            </a:r>
            <a:r>
              <a:rPr lang="vi" sz="1800">
                <a:solidFill>
                  <a:schemeClr val="dk1"/>
                </a:solidFill>
                <a:latin typeface="Times New Roman"/>
                <a:ea typeface="Times New Roman"/>
                <a:cs typeface="Times New Roman"/>
                <a:sym typeface="Times New Roman"/>
              </a:rPr>
              <a:t> (với $K \in \{5, 10, 20\}$)</a:t>
            </a:r>
            <a:endParaRPr sz="1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ec5a9fa9ed_0_89"/>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148" name="Google Shape;148;g3ec5a9fa9ed_0_89"/>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6</a:t>
            </a:r>
            <a:r>
              <a:rPr lang="vi" sz="3000">
                <a:solidFill>
                  <a:schemeClr val="lt1"/>
                </a:solidFill>
                <a:latin typeface="Times New Roman"/>
                <a:ea typeface="Times New Roman"/>
                <a:cs typeface="Times New Roman"/>
                <a:sym typeface="Times New Roman"/>
              </a:rPr>
              <a:t>. K</a:t>
            </a:r>
            <a:r>
              <a:rPr lang="vi" sz="3000">
                <a:solidFill>
                  <a:schemeClr val="lt1"/>
                </a:solidFill>
                <a:latin typeface="Times New Roman"/>
                <a:ea typeface="Times New Roman"/>
                <a:cs typeface="Times New Roman"/>
                <a:sym typeface="Times New Roman"/>
              </a:rPr>
              <a:t>ết quả</a:t>
            </a:r>
            <a:endParaRPr sz="3000">
              <a:solidFill>
                <a:schemeClr val="lt1"/>
              </a:solidFill>
              <a:latin typeface="Times New Roman"/>
              <a:ea typeface="Times New Roman"/>
              <a:cs typeface="Times New Roman"/>
              <a:sym typeface="Times New Roman"/>
            </a:endParaRPr>
          </a:p>
        </p:txBody>
      </p:sp>
      <p:sp>
        <p:nvSpPr>
          <p:cNvPr id="149" name="Google Shape;149;g3ec5a9fa9ed_0_8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pic>
        <p:nvPicPr>
          <p:cNvPr id="150" name="Google Shape;150;g3ec5a9fa9ed_0_89"/>
          <p:cNvPicPr preferRelativeResize="0"/>
          <p:nvPr/>
        </p:nvPicPr>
        <p:blipFill>
          <a:blip r:embed="rId3">
            <a:alphaModFix/>
          </a:blip>
          <a:stretch>
            <a:fillRect/>
          </a:stretch>
        </p:blipFill>
        <p:spPr>
          <a:xfrm>
            <a:off x="1212625" y="704500"/>
            <a:ext cx="7736497" cy="37344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ec5a9fa9ed_0_139"/>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156" name="Google Shape;156;g3ec5a9fa9ed_0_139"/>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6. Kết quả</a:t>
            </a:r>
            <a:endParaRPr sz="3000">
              <a:solidFill>
                <a:schemeClr val="lt1"/>
              </a:solidFill>
              <a:latin typeface="Times New Roman"/>
              <a:ea typeface="Times New Roman"/>
              <a:cs typeface="Times New Roman"/>
              <a:sym typeface="Times New Roman"/>
            </a:endParaRPr>
          </a:p>
        </p:txBody>
      </p:sp>
      <p:sp>
        <p:nvSpPr>
          <p:cNvPr id="157" name="Google Shape;157;g3ec5a9fa9ed_0_13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pic>
        <p:nvPicPr>
          <p:cNvPr id="158" name="Google Shape;158;g3ec5a9fa9ed_0_139"/>
          <p:cNvPicPr preferRelativeResize="0"/>
          <p:nvPr/>
        </p:nvPicPr>
        <p:blipFill>
          <a:blip r:embed="rId3">
            <a:alphaModFix/>
          </a:blip>
          <a:stretch>
            <a:fillRect/>
          </a:stretch>
        </p:blipFill>
        <p:spPr>
          <a:xfrm>
            <a:off x="1416050" y="655725"/>
            <a:ext cx="7627148" cy="3734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c5a9fa9ed_0_95"/>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164" name="Google Shape;164;g3ec5a9fa9ed_0_95"/>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7</a:t>
            </a:r>
            <a:r>
              <a:rPr lang="vi" sz="3000">
                <a:solidFill>
                  <a:schemeClr val="lt1"/>
                </a:solidFill>
                <a:latin typeface="Times New Roman"/>
                <a:ea typeface="Times New Roman"/>
                <a:cs typeface="Times New Roman"/>
                <a:sym typeface="Times New Roman"/>
              </a:rPr>
              <a:t>. K</a:t>
            </a:r>
            <a:r>
              <a:rPr lang="vi" sz="3000">
                <a:solidFill>
                  <a:schemeClr val="lt1"/>
                </a:solidFill>
                <a:latin typeface="Times New Roman"/>
                <a:ea typeface="Times New Roman"/>
                <a:cs typeface="Times New Roman"/>
                <a:sym typeface="Times New Roman"/>
              </a:rPr>
              <a:t>ết luận</a:t>
            </a:r>
            <a:endParaRPr sz="3000">
              <a:solidFill>
                <a:schemeClr val="lt1"/>
              </a:solidFill>
              <a:latin typeface="Times New Roman"/>
              <a:ea typeface="Times New Roman"/>
              <a:cs typeface="Times New Roman"/>
              <a:sym typeface="Times New Roman"/>
            </a:endParaRPr>
          </a:p>
        </p:txBody>
      </p:sp>
      <p:sp>
        <p:nvSpPr>
          <p:cNvPr id="165" name="Google Shape;165;g3ec5a9fa9ed_0_95"/>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166" name="Google Shape;166;g3ec5a9fa9ed_0_95"/>
          <p:cNvSpPr txBox="1"/>
          <p:nvPr/>
        </p:nvSpPr>
        <p:spPr>
          <a:xfrm>
            <a:off x="144225" y="913350"/>
            <a:ext cx="9087000" cy="3564900"/>
          </a:xfrm>
          <a:prstGeom prst="rect">
            <a:avLst/>
          </a:prstGeom>
          <a:noFill/>
          <a:ln>
            <a:noFill/>
          </a:ln>
        </p:spPr>
        <p:txBody>
          <a:bodyPr anchorCtr="0" anchor="t" bIns="91425" lIns="91425" spcFirstLastPara="1" rIns="91425" wrap="square" tIns="91425">
            <a:spAutoFit/>
          </a:bodyPr>
          <a:lstStyle/>
          <a:p>
            <a:pPr indent="-342900" lvl="0" marL="457200" rtl="0" algn="l">
              <a:lnSpc>
                <a:spcPct val="160000"/>
              </a:lnSpc>
              <a:spcBef>
                <a:spcPts val="0"/>
              </a:spcBef>
              <a:spcAft>
                <a:spcPts val="0"/>
              </a:spcAft>
              <a:buClr>
                <a:srgbClr val="334155"/>
              </a:buClr>
              <a:buSzPts val="1800"/>
              <a:buChar char="❖"/>
            </a:pPr>
            <a:r>
              <a:rPr b="1" lang="vi" sz="1800">
                <a:solidFill>
                  <a:srgbClr val="334155"/>
                </a:solidFill>
                <a:highlight>
                  <a:srgbClr val="FFFFFF"/>
                </a:highlight>
                <a:latin typeface="Times New Roman"/>
                <a:ea typeface="Times New Roman"/>
                <a:cs typeface="Times New Roman"/>
                <a:sym typeface="Times New Roman"/>
              </a:rPr>
              <a:t>Giải pháp tiên phong xuất sắc:</a:t>
            </a:r>
            <a:r>
              <a:rPr lang="vi" sz="1800">
                <a:solidFill>
                  <a:srgbClr val="334155"/>
                </a:solidFill>
                <a:highlight>
                  <a:srgbClr val="FFFFFF"/>
                </a:highlight>
                <a:latin typeface="Times New Roman"/>
                <a:ea typeface="Times New Roman"/>
                <a:cs typeface="Times New Roman"/>
                <a:sym typeface="Times New Roman"/>
              </a:rPr>
              <a:t> Lần đầu tiên phát triển cơ chế tự sinh và học biểu diễn Biến công cụ có điều kiện (CIV) trực tiếp từ dữ liệu tương tác lịch sử.</a:t>
            </a:r>
            <a:endParaRPr sz="1800">
              <a:solidFill>
                <a:srgbClr val="334155"/>
              </a:solidFill>
              <a:highlight>
                <a:srgbClr val="FFFFFF"/>
              </a:highlight>
              <a:latin typeface="Times New Roman"/>
              <a:ea typeface="Times New Roman"/>
              <a:cs typeface="Times New Roman"/>
              <a:sym typeface="Times New Roman"/>
            </a:endParaRPr>
          </a:p>
          <a:p>
            <a:pPr indent="-342900" lvl="0" marL="457200" rtl="0" algn="l">
              <a:lnSpc>
                <a:spcPct val="160000"/>
              </a:lnSpc>
              <a:spcBef>
                <a:spcPts val="0"/>
              </a:spcBef>
              <a:spcAft>
                <a:spcPts val="0"/>
              </a:spcAft>
              <a:buClr>
                <a:srgbClr val="334155"/>
              </a:buClr>
              <a:buSzPts val="1800"/>
              <a:buChar char="❖"/>
            </a:pPr>
            <a:r>
              <a:rPr b="1" lang="vi" sz="1800">
                <a:solidFill>
                  <a:srgbClr val="334155"/>
                </a:solidFill>
                <a:highlight>
                  <a:srgbClr val="FFFFFF"/>
                </a:highlight>
                <a:latin typeface="Times New Roman"/>
                <a:ea typeface="Times New Roman"/>
                <a:cs typeface="Times New Roman"/>
                <a:sym typeface="Times New Roman"/>
              </a:rPr>
              <a:t>Cơ sở toán học vững chắc:</a:t>
            </a:r>
            <a:r>
              <a:rPr lang="vi" sz="1800">
                <a:solidFill>
                  <a:srgbClr val="334155"/>
                </a:solidFill>
                <a:highlight>
                  <a:srgbClr val="FFFFFF"/>
                </a:highlight>
                <a:latin typeface="Times New Roman"/>
                <a:ea typeface="Times New Roman"/>
                <a:cs typeface="Times New Roman"/>
                <a:sym typeface="Times New Roman"/>
              </a:rPr>
              <a:t> Chứng minh thành công tính nhất quán nhân quả về mặt lý thuyết giúp việc khử bias đạt được sự ổn định tuyệt đối.</a:t>
            </a:r>
            <a:endParaRPr sz="1800">
              <a:solidFill>
                <a:srgbClr val="334155"/>
              </a:solidFill>
              <a:highlight>
                <a:srgbClr val="FFFFFF"/>
              </a:highlight>
              <a:latin typeface="Times New Roman"/>
              <a:ea typeface="Times New Roman"/>
              <a:cs typeface="Times New Roman"/>
              <a:sym typeface="Times New Roman"/>
            </a:endParaRPr>
          </a:p>
          <a:p>
            <a:pPr indent="-342900" lvl="0" marL="457200" rtl="0" algn="l">
              <a:lnSpc>
                <a:spcPct val="160000"/>
              </a:lnSpc>
              <a:spcBef>
                <a:spcPts val="0"/>
              </a:spcBef>
              <a:spcAft>
                <a:spcPts val="0"/>
              </a:spcAft>
              <a:buClr>
                <a:srgbClr val="334155"/>
              </a:buClr>
              <a:buSzPts val="1800"/>
              <a:buChar char="❖"/>
            </a:pPr>
            <a:r>
              <a:rPr b="1" lang="vi" sz="1800">
                <a:solidFill>
                  <a:srgbClr val="334155"/>
                </a:solidFill>
                <a:highlight>
                  <a:srgbClr val="FFFFFF"/>
                </a:highlight>
                <a:latin typeface="Times New Roman"/>
                <a:ea typeface="Times New Roman"/>
                <a:cs typeface="Times New Roman"/>
                <a:sym typeface="Times New Roman"/>
              </a:rPr>
              <a:t>SOTA đột phá:</a:t>
            </a:r>
            <a:r>
              <a:rPr lang="vi" sz="1800">
                <a:solidFill>
                  <a:srgbClr val="334155"/>
                </a:solidFill>
                <a:highlight>
                  <a:srgbClr val="FFFFFF"/>
                </a:highlight>
                <a:latin typeface="Times New Roman"/>
                <a:ea typeface="Times New Roman"/>
                <a:cs typeface="Times New Roman"/>
                <a:sym typeface="Times New Roman"/>
              </a:rPr>
              <a:t> Thiết lập kỷ lục mới về độ đa dạng và độ chính xác (NDCG, Recall) trên các tập dữ liệu chuẩn so với các mô hình khử bias truyền thống.</a:t>
            </a:r>
            <a:endParaRPr sz="1800">
              <a:solidFill>
                <a:srgbClr val="334155"/>
              </a:solidFill>
              <a:highlight>
                <a:srgbClr val="FFFFFF"/>
              </a:highlight>
              <a:latin typeface="Times New Roman"/>
              <a:ea typeface="Times New Roman"/>
              <a:cs typeface="Times New Roman"/>
              <a:sym typeface="Times New Roman"/>
            </a:endParaRPr>
          </a:p>
          <a:p>
            <a:pPr indent="-342900" lvl="0" marL="457200" rtl="0" algn="l">
              <a:lnSpc>
                <a:spcPct val="160000"/>
              </a:lnSpc>
              <a:spcBef>
                <a:spcPts val="0"/>
              </a:spcBef>
              <a:spcAft>
                <a:spcPts val="0"/>
              </a:spcAft>
              <a:buClr>
                <a:srgbClr val="334155"/>
              </a:buClr>
              <a:buSzPts val="1800"/>
              <a:buChar char="❖"/>
            </a:pPr>
            <a:r>
              <a:rPr b="1" lang="vi" sz="1800">
                <a:solidFill>
                  <a:srgbClr val="334155"/>
                </a:solidFill>
                <a:highlight>
                  <a:srgbClr val="FFFFFF"/>
                </a:highlight>
                <a:latin typeface="Times New Roman"/>
                <a:ea typeface="Times New Roman"/>
                <a:cs typeface="Times New Roman"/>
                <a:sym typeface="Times New Roman"/>
              </a:rPr>
              <a:t>Khả năng ứng dụng thực tế:</a:t>
            </a:r>
            <a:r>
              <a:rPr lang="vi" sz="1800">
                <a:solidFill>
                  <a:srgbClr val="334155"/>
                </a:solidFill>
                <a:highlight>
                  <a:srgbClr val="FFFFFF"/>
                </a:highlight>
                <a:latin typeface="Times New Roman"/>
                <a:ea typeface="Times New Roman"/>
                <a:cs typeface="Times New Roman"/>
                <a:sym typeface="Times New Roman"/>
              </a:rPr>
              <a:t> Mở đường tích hợp hiệu quả Suy luận nhân quả sâu (Deep Causal Inference) trực tiếp vào các hệ thống AI sản xuất quy mô lớn.</a:t>
            </a:r>
            <a:endParaRPr sz="1800">
              <a:solidFill>
                <a:srgbClr val="334155"/>
              </a:solidFill>
              <a:highlight>
                <a:srgbClr val="FFFFFF"/>
              </a:highlight>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ec5a9fa9ed_0_101"/>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172" name="Google Shape;172;g3ec5a9fa9ed_0_101"/>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8</a:t>
            </a:r>
            <a:r>
              <a:rPr lang="vi" sz="3000">
                <a:solidFill>
                  <a:schemeClr val="lt1"/>
                </a:solidFill>
                <a:latin typeface="Times New Roman"/>
                <a:ea typeface="Times New Roman"/>
                <a:cs typeface="Times New Roman"/>
                <a:sym typeface="Times New Roman"/>
              </a:rPr>
              <a:t>. Demo</a:t>
            </a:r>
            <a:endParaRPr sz="3000">
              <a:solidFill>
                <a:schemeClr val="lt1"/>
              </a:solidFill>
              <a:latin typeface="Times New Roman"/>
              <a:ea typeface="Times New Roman"/>
              <a:cs typeface="Times New Roman"/>
              <a:sym typeface="Times New Roman"/>
            </a:endParaRPr>
          </a:p>
        </p:txBody>
      </p:sp>
      <p:sp>
        <p:nvSpPr>
          <p:cNvPr id="173" name="Google Shape;173;g3ec5a9fa9ed_0_101"/>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174" name="Google Shape;174;g3ec5a9fa9ed_0_101"/>
          <p:cNvSpPr txBox="1"/>
          <p:nvPr/>
        </p:nvSpPr>
        <p:spPr>
          <a:xfrm>
            <a:off x="1416050" y="961400"/>
            <a:ext cx="51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u="sng">
                <a:solidFill>
                  <a:schemeClr val="hlink"/>
                </a:solidFill>
                <a:hlinkClick r:id="rId3"/>
              </a:rPr>
              <a:t>https://717ba95d3def656484.gradio.live/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ec5a9fa9ed_0_127"/>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180" name="Google Shape;180;g3ec5a9fa9ed_0_127"/>
          <p:cNvSpPr txBox="1"/>
          <p:nvPr>
            <p:ph type="title"/>
          </p:nvPr>
        </p:nvSpPr>
        <p:spPr>
          <a:xfrm>
            <a:off x="1416050" y="115275"/>
            <a:ext cx="7671000" cy="474600"/>
          </a:xfrm>
          <a:prstGeom prst="rect">
            <a:avLst/>
          </a:prstGeom>
          <a:solidFill>
            <a:srgbClr val="0000FF"/>
          </a:solidFill>
          <a:ln>
            <a:noFill/>
          </a:ln>
        </p:spPr>
        <p:txBody>
          <a:bodyPr anchorCtr="0" anchor="t" bIns="0" lIns="0" spcFirstLastPara="1" rIns="0" wrap="square" tIns="12700">
            <a:spAutoFit/>
          </a:bodyPr>
          <a:lstStyle/>
          <a:p>
            <a:pPr indent="0" lvl="0" marL="0" rtl="0" algn="ctr">
              <a:spcBef>
                <a:spcPts val="1130"/>
              </a:spcBef>
              <a:spcAft>
                <a:spcPts val="0"/>
              </a:spcAft>
              <a:buNone/>
            </a:pPr>
            <a:r>
              <a:rPr lang="vi" sz="3000">
                <a:solidFill>
                  <a:schemeClr val="lt1"/>
                </a:solidFill>
                <a:latin typeface="Times New Roman"/>
                <a:ea typeface="Times New Roman"/>
                <a:cs typeface="Times New Roman"/>
                <a:sym typeface="Times New Roman"/>
              </a:rPr>
              <a:t>Tài liệu tham khảo</a:t>
            </a:r>
            <a:endParaRPr sz="3000">
              <a:solidFill>
                <a:schemeClr val="lt1"/>
              </a:solidFill>
              <a:latin typeface="Times New Roman"/>
              <a:ea typeface="Times New Roman"/>
              <a:cs typeface="Times New Roman"/>
              <a:sym typeface="Times New Roman"/>
            </a:endParaRPr>
          </a:p>
        </p:txBody>
      </p:sp>
      <p:sp>
        <p:nvSpPr>
          <p:cNvPr id="181" name="Google Shape;181;g3ec5a9fa9ed_0_127"/>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
        <p:nvSpPr>
          <p:cNvPr id="182" name="Google Shape;182;g3ec5a9fa9ed_0_127"/>
          <p:cNvSpPr txBox="1"/>
          <p:nvPr/>
        </p:nvSpPr>
        <p:spPr>
          <a:xfrm>
            <a:off x="1281450" y="769125"/>
            <a:ext cx="75249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vi"/>
              <a:t>https://arxiv.org/pdf/2408.09651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948f2a24fc_2_149"/>
          <p:cNvSpPr txBox="1"/>
          <p:nvPr/>
        </p:nvSpPr>
        <p:spPr>
          <a:xfrm>
            <a:off x="3363751" y="4629150"/>
            <a:ext cx="3107400" cy="209700"/>
          </a:xfrm>
          <a:prstGeom prst="rect">
            <a:avLst/>
          </a:prstGeom>
          <a:noFill/>
          <a:ln>
            <a:noFill/>
          </a:ln>
        </p:spPr>
        <p:txBody>
          <a:bodyPr anchorCtr="0" anchor="t" bIns="0" lIns="0" spcFirstLastPara="1" rIns="0" wrap="square" tIns="55225">
            <a:spAutoFit/>
          </a:bodyPr>
          <a:lstStyle/>
          <a:p>
            <a:pPr indent="0" lvl="0" marL="0" marR="0" rtl="0" algn="ctr">
              <a:lnSpc>
                <a:spcPct val="143000"/>
              </a:lnSpc>
              <a:spcBef>
                <a:spcPts val="0"/>
              </a:spcBef>
              <a:spcAft>
                <a:spcPts val="0"/>
              </a:spcAft>
              <a:buClr>
                <a:srgbClr val="000000"/>
              </a:buClr>
              <a:buSzPts val="1000"/>
              <a:buFont typeface="Arial"/>
              <a:buNone/>
            </a:pPr>
            <a:r>
              <a:rPr b="0" i="0" lang="vi" sz="1000" u="none" cap="none" strike="noStrike">
                <a:solidFill>
                  <a:schemeClr val="dk1"/>
                </a:solidFill>
                <a:latin typeface="Arial"/>
                <a:ea typeface="Arial"/>
                <a:cs typeface="Arial"/>
                <a:sym typeface="Arial"/>
              </a:rPr>
              <a:t>© Bộ môn </a:t>
            </a:r>
            <a:r>
              <a:rPr lang="vi" sz="1000">
                <a:solidFill>
                  <a:schemeClr val="dk1"/>
                </a:solidFill>
              </a:rPr>
              <a:t>PTDLTM</a:t>
            </a:r>
            <a:r>
              <a:rPr b="0" i="0" lang="vi" sz="1000" u="none" cap="none" strike="noStrike">
                <a:solidFill>
                  <a:schemeClr val="dk1"/>
                </a:solidFill>
                <a:latin typeface="Arial"/>
                <a:ea typeface="Arial"/>
                <a:cs typeface="Arial"/>
                <a:sym typeface="Arial"/>
              </a:rPr>
              <a:t> - Khoa CNTT - Trường ĐH KHTN</a:t>
            </a:r>
            <a:endParaRPr b="0" i="0" sz="1000" u="none" cap="none" strike="noStrike">
              <a:solidFill>
                <a:schemeClr val="dk1"/>
              </a:solidFill>
              <a:latin typeface="Arial"/>
              <a:ea typeface="Arial"/>
              <a:cs typeface="Arial"/>
              <a:sym typeface="Arial"/>
            </a:endParaRPr>
          </a:p>
        </p:txBody>
      </p:sp>
      <p:sp>
        <p:nvSpPr>
          <p:cNvPr id="188" name="Google Shape;188;g3948f2a24fc_2_149"/>
          <p:cNvSpPr txBox="1"/>
          <p:nvPr>
            <p:ph idx="1" type="body"/>
          </p:nvPr>
        </p:nvSpPr>
        <p:spPr>
          <a:xfrm>
            <a:off x="677925" y="1121525"/>
            <a:ext cx="8191500" cy="2078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b="1" lang="vi" sz="4500">
                <a:solidFill>
                  <a:srgbClr val="0000FF"/>
                </a:solidFill>
              </a:rPr>
              <a:t>CẢM ƠN THẦY VÀ </a:t>
            </a:r>
            <a:endParaRPr b="1" sz="4500">
              <a:solidFill>
                <a:srgbClr val="0000FF"/>
              </a:solidFill>
            </a:endParaRPr>
          </a:p>
          <a:p>
            <a:pPr indent="0" lvl="0" marL="0" rtl="0" algn="ctr">
              <a:lnSpc>
                <a:spcPct val="100000"/>
              </a:lnSpc>
              <a:spcBef>
                <a:spcPts val="0"/>
              </a:spcBef>
              <a:spcAft>
                <a:spcPts val="0"/>
              </a:spcAft>
              <a:buSzPts val="1400"/>
              <a:buNone/>
            </a:pPr>
            <a:r>
              <a:rPr b="1" lang="vi" sz="4500">
                <a:solidFill>
                  <a:srgbClr val="0000FF"/>
                </a:solidFill>
              </a:rPr>
              <a:t>CÁC BẠN ĐÃ </a:t>
            </a:r>
            <a:endParaRPr b="1" sz="4500">
              <a:solidFill>
                <a:srgbClr val="0000FF"/>
              </a:solidFill>
            </a:endParaRPr>
          </a:p>
          <a:p>
            <a:pPr indent="0" lvl="0" marL="0" rtl="0" algn="ctr">
              <a:lnSpc>
                <a:spcPct val="100000"/>
              </a:lnSpc>
              <a:spcBef>
                <a:spcPts val="0"/>
              </a:spcBef>
              <a:spcAft>
                <a:spcPts val="0"/>
              </a:spcAft>
              <a:buSzPts val="1400"/>
              <a:buNone/>
            </a:pPr>
            <a:r>
              <a:rPr b="1" lang="vi" sz="4500">
                <a:solidFill>
                  <a:srgbClr val="0000FF"/>
                </a:solidFill>
              </a:rPr>
              <a:t>LẮNG NGHE!</a:t>
            </a:r>
            <a:endParaRPr b="1" sz="4500">
              <a:solidFill>
                <a:srgbClr val="0000FF"/>
              </a:solidFill>
            </a:endParaRPr>
          </a:p>
        </p:txBody>
      </p:sp>
      <p:sp>
        <p:nvSpPr>
          <p:cNvPr id="189" name="Google Shape;189;g3948f2a24fc_2_149"/>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vi"/>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